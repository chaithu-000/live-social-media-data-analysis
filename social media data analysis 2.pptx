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74" r:id="rId6"/>
    <p:sldId id="279" r:id="rId7"/>
    <p:sldId id="276" r:id="rId8"/>
    <p:sldId id="286" r:id="rId9"/>
    <p:sldId id="278" r:id="rId10"/>
    <p:sldId id="271" r:id="rId11"/>
    <p:sldId id="281" r:id="rId12"/>
    <p:sldId id="283" r:id="rId13"/>
    <p:sldId id="285" r:id="rId14"/>
    <p:sldId id="284" r:id="rId15"/>
    <p:sldId id="26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47" d="100"/>
          <a:sy n="47" d="100"/>
        </p:scale>
        <p:origin x="155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rna chand" userId="6e54419aa65d471c" providerId="LiveId" clId="{2483B58E-5644-4E75-AA46-D334125ADD6E}"/>
    <pc:docChg chg="undo custSel modSld">
      <pc:chgData name="purna chand" userId="6e54419aa65d471c" providerId="LiveId" clId="{2483B58E-5644-4E75-AA46-D334125ADD6E}" dt="2026-09-22T09:13:59.059" v="130" actId="1076"/>
      <pc:docMkLst>
        <pc:docMk/>
      </pc:docMkLst>
      <pc:sldChg chg="addSp delSp modSp mod">
        <pc:chgData name="purna chand" userId="6e54419aa65d471c" providerId="LiveId" clId="{2483B58E-5644-4E75-AA46-D334125ADD6E}" dt="2026-09-22T09:10:12.476" v="82" actId="1076"/>
        <pc:sldMkLst>
          <pc:docMk/>
          <pc:sldMk cId="314495878" sldId="271"/>
        </pc:sldMkLst>
        <pc:spChg chg="add mod">
          <ac:chgData name="purna chand" userId="6e54419aa65d471c" providerId="LiveId" clId="{2483B58E-5644-4E75-AA46-D334125ADD6E}" dt="2026-09-22T09:10:12.476" v="82" actId="1076"/>
          <ac:spMkLst>
            <pc:docMk/>
            <pc:sldMk cId="314495878" sldId="271"/>
            <ac:spMk id="4" creationId="{52502A97-D245-72B2-C4CE-36C3CF74332D}"/>
          </ac:spMkLst>
        </pc:spChg>
        <pc:spChg chg="add del mod">
          <ac:chgData name="purna chand" userId="6e54419aa65d471c" providerId="LiveId" clId="{2483B58E-5644-4E75-AA46-D334125ADD6E}" dt="2026-09-22T09:06:10.678" v="37"/>
          <ac:spMkLst>
            <pc:docMk/>
            <pc:sldMk cId="314495878" sldId="271"/>
            <ac:spMk id="10" creationId="{C3424CE3-2BBD-D949-B6E7-EE563E93A1D9}"/>
          </ac:spMkLst>
        </pc:spChg>
        <pc:spChg chg="mod">
          <ac:chgData name="purna chand" userId="6e54419aa65d471c" providerId="LiveId" clId="{2483B58E-5644-4E75-AA46-D334125ADD6E}" dt="2026-09-22T09:06:53.284" v="48" actId="1076"/>
          <ac:spMkLst>
            <pc:docMk/>
            <pc:sldMk cId="314495878" sldId="271"/>
            <ac:spMk id="12" creationId="{00000000-0000-0000-0000-000000000000}"/>
          </ac:spMkLst>
        </pc:spChg>
        <pc:spChg chg="add mod">
          <ac:chgData name="purna chand" userId="6e54419aa65d471c" providerId="LiveId" clId="{2483B58E-5644-4E75-AA46-D334125ADD6E}" dt="2026-09-22T09:08:39.566" v="64" actId="1076"/>
          <ac:spMkLst>
            <pc:docMk/>
            <pc:sldMk cId="314495878" sldId="271"/>
            <ac:spMk id="13" creationId="{0E34B842-9CD3-AA46-6CA7-F730C9D1D96E}"/>
          </ac:spMkLst>
        </pc:spChg>
        <pc:spChg chg="add mod">
          <ac:chgData name="purna chand" userId="6e54419aa65d471c" providerId="LiveId" clId="{2483B58E-5644-4E75-AA46-D334125ADD6E}" dt="2026-09-22T09:10:07.110" v="81" actId="1076"/>
          <ac:spMkLst>
            <pc:docMk/>
            <pc:sldMk cId="314495878" sldId="271"/>
            <ac:spMk id="15" creationId="{D18714A5-46F1-BD0D-4A00-BB0C1211F660}"/>
          </ac:spMkLst>
        </pc:spChg>
        <pc:spChg chg="add mod">
          <ac:chgData name="purna chand" userId="6e54419aa65d471c" providerId="LiveId" clId="{2483B58E-5644-4E75-AA46-D334125ADD6E}" dt="2026-09-22T09:08:48.654" v="66" actId="1076"/>
          <ac:spMkLst>
            <pc:docMk/>
            <pc:sldMk cId="314495878" sldId="271"/>
            <ac:spMk id="16" creationId="{D359C03E-C4CB-43D3-0C7D-3D50822A8B32}"/>
          </ac:spMkLst>
        </pc:spChg>
        <pc:spChg chg="add mod">
          <ac:chgData name="purna chand" userId="6e54419aa65d471c" providerId="LiveId" clId="{2483B58E-5644-4E75-AA46-D334125ADD6E}" dt="2026-09-22T09:09:02.344" v="69" actId="1076"/>
          <ac:spMkLst>
            <pc:docMk/>
            <pc:sldMk cId="314495878" sldId="271"/>
            <ac:spMk id="18" creationId="{E02D8121-E16D-A49A-1052-85D8AFE05F58}"/>
          </ac:spMkLst>
        </pc:spChg>
        <pc:spChg chg="mod">
          <ac:chgData name="purna chand" userId="6e54419aa65d471c" providerId="LiveId" clId="{2483B58E-5644-4E75-AA46-D334125ADD6E}" dt="2026-09-22T09:08:25.917" v="61" actId="1076"/>
          <ac:spMkLst>
            <pc:docMk/>
            <pc:sldMk cId="314495878" sldId="271"/>
            <ac:spMk id="20" creationId="{00000000-0000-0000-0000-000000000000}"/>
          </ac:spMkLst>
        </pc:spChg>
        <pc:spChg chg="add mod">
          <ac:chgData name="purna chand" userId="6e54419aa65d471c" providerId="LiveId" clId="{2483B58E-5644-4E75-AA46-D334125ADD6E}" dt="2026-09-22T09:09:59.881" v="80" actId="1076"/>
          <ac:spMkLst>
            <pc:docMk/>
            <pc:sldMk cId="314495878" sldId="271"/>
            <ac:spMk id="21" creationId="{B1C9C953-BED3-2F43-1A1F-3B7650BC3A88}"/>
          </ac:spMkLst>
        </pc:spChg>
        <pc:cxnChg chg="add del">
          <ac:chgData name="purna chand" userId="6e54419aa65d471c" providerId="LiveId" clId="{2483B58E-5644-4E75-AA46-D334125ADD6E}" dt="2026-09-22T09:05:07.531" v="24" actId="11529"/>
          <ac:cxnSpMkLst>
            <pc:docMk/>
            <pc:sldMk cId="314495878" sldId="271"/>
            <ac:cxnSpMk id="3" creationId="{F0BC3A08-AD3D-3AB9-73F3-725E1C529C83}"/>
          </ac:cxnSpMkLst>
        </pc:cxnChg>
      </pc:sldChg>
      <pc:sldChg chg="addSp delSp modSp mod">
        <pc:chgData name="purna chand" userId="6e54419aa65d471c" providerId="LiveId" clId="{2483B58E-5644-4E75-AA46-D334125ADD6E}" dt="2026-09-22T09:13:59.059" v="130" actId="1076"/>
        <pc:sldMkLst>
          <pc:docMk/>
          <pc:sldMk cId="3744217247" sldId="281"/>
        </pc:sldMkLst>
        <pc:spChg chg="add">
          <ac:chgData name="purna chand" userId="6e54419aa65d471c" providerId="LiveId" clId="{2483B58E-5644-4E75-AA46-D334125ADD6E}" dt="2026-09-22T09:10:28.519" v="84" actId="22"/>
          <ac:spMkLst>
            <pc:docMk/>
            <pc:sldMk cId="3744217247" sldId="281"/>
            <ac:spMk id="3" creationId="{58C6D514-1AF0-EDB1-7078-687065ECF56B}"/>
          </ac:spMkLst>
        </pc:spChg>
        <pc:spChg chg="del">
          <ac:chgData name="purna chand" userId="6e54419aa65d471c" providerId="LiveId" clId="{2483B58E-5644-4E75-AA46-D334125ADD6E}" dt="2026-09-22T09:10:20.918" v="83" actId="478"/>
          <ac:spMkLst>
            <pc:docMk/>
            <pc:sldMk cId="3744217247" sldId="281"/>
            <ac:spMk id="12" creationId="{00000000-0000-0000-0000-000000000000}"/>
          </ac:spMkLst>
        </pc:spChg>
        <pc:spChg chg="del">
          <ac:chgData name="purna chand" userId="6e54419aa65d471c" providerId="LiveId" clId="{2483B58E-5644-4E75-AA46-D334125ADD6E}" dt="2026-09-22T09:10:20.918" v="83" actId="478"/>
          <ac:spMkLst>
            <pc:docMk/>
            <pc:sldMk cId="3744217247" sldId="281"/>
            <ac:spMk id="13" creationId="{00000000-0000-0000-0000-000000000000}"/>
          </ac:spMkLst>
        </pc:spChg>
        <pc:spChg chg="del">
          <ac:chgData name="purna chand" userId="6e54419aa65d471c" providerId="LiveId" clId="{2483B58E-5644-4E75-AA46-D334125ADD6E}" dt="2026-09-22T09:10:20.918" v="83" actId="478"/>
          <ac:spMkLst>
            <pc:docMk/>
            <pc:sldMk cId="3744217247" sldId="281"/>
            <ac:spMk id="14" creationId="{00000000-0000-0000-0000-000000000000}"/>
          </ac:spMkLst>
        </pc:spChg>
        <pc:spChg chg="del">
          <ac:chgData name="purna chand" userId="6e54419aa65d471c" providerId="LiveId" clId="{2483B58E-5644-4E75-AA46-D334125ADD6E}" dt="2026-09-22T09:10:20.918" v="83" actId="478"/>
          <ac:spMkLst>
            <pc:docMk/>
            <pc:sldMk cId="3744217247" sldId="281"/>
            <ac:spMk id="15" creationId="{00000000-0000-0000-0000-000000000000}"/>
          </ac:spMkLst>
        </pc:spChg>
        <pc:spChg chg="del">
          <ac:chgData name="purna chand" userId="6e54419aa65d471c" providerId="LiveId" clId="{2483B58E-5644-4E75-AA46-D334125ADD6E}" dt="2026-09-22T09:10:20.918" v="83" actId="478"/>
          <ac:spMkLst>
            <pc:docMk/>
            <pc:sldMk cId="3744217247" sldId="281"/>
            <ac:spMk id="16" creationId="{00000000-0000-0000-0000-000000000000}"/>
          </ac:spMkLst>
        </pc:spChg>
        <pc:spChg chg="del">
          <ac:chgData name="purna chand" userId="6e54419aa65d471c" providerId="LiveId" clId="{2483B58E-5644-4E75-AA46-D334125ADD6E}" dt="2026-09-22T09:10:20.918" v="83" actId="478"/>
          <ac:spMkLst>
            <pc:docMk/>
            <pc:sldMk cId="3744217247" sldId="281"/>
            <ac:spMk id="17" creationId="{00000000-0000-0000-0000-000000000000}"/>
          </ac:spMkLst>
        </pc:spChg>
        <pc:spChg chg="del">
          <ac:chgData name="purna chand" userId="6e54419aa65d471c" providerId="LiveId" clId="{2483B58E-5644-4E75-AA46-D334125ADD6E}" dt="2026-09-22T09:10:20.918" v="83" actId="478"/>
          <ac:spMkLst>
            <pc:docMk/>
            <pc:sldMk cId="3744217247" sldId="281"/>
            <ac:spMk id="18" creationId="{00000000-0000-0000-0000-000000000000}"/>
          </ac:spMkLst>
        </pc:spChg>
        <pc:spChg chg="del">
          <ac:chgData name="purna chand" userId="6e54419aa65d471c" providerId="LiveId" clId="{2483B58E-5644-4E75-AA46-D334125ADD6E}" dt="2026-09-22T09:10:20.918" v="83" actId="478"/>
          <ac:spMkLst>
            <pc:docMk/>
            <pc:sldMk cId="3744217247" sldId="281"/>
            <ac:spMk id="19" creationId="{00000000-0000-0000-0000-000000000000}"/>
          </ac:spMkLst>
        </pc:spChg>
        <pc:spChg chg="del">
          <ac:chgData name="purna chand" userId="6e54419aa65d471c" providerId="LiveId" clId="{2483B58E-5644-4E75-AA46-D334125ADD6E}" dt="2026-09-22T09:10:20.918" v="83" actId="478"/>
          <ac:spMkLst>
            <pc:docMk/>
            <pc:sldMk cId="3744217247" sldId="281"/>
            <ac:spMk id="20" creationId="{00000000-0000-0000-0000-000000000000}"/>
          </ac:spMkLst>
        </pc:spChg>
        <pc:spChg chg="mod">
          <ac:chgData name="purna chand" userId="6e54419aa65d471c" providerId="LiveId" clId="{2483B58E-5644-4E75-AA46-D334125ADD6E}" dt="2026-09-22T09:10:40.518" v="85"/>
          <ac:spMkLst>
            <pc:docMk/>
            <pc:sldMk cId="3744217247" sldId="281"/>
            <ac:spMk id="23" creationId="{B3782B54-B821-DE87-C2B7-79ECF9E77AF9}"/>
          </ac:spMkLst>
        </pc:spChg>
        <pc:spChg chg="add mod">
          <ac:chgData name="purna chand" userId="6e54419aa65d471c" providerId="LiveId" clId="{2483B58E-5644-4E75-AA46-D334125ADD6E}" dt="2026-09-22T09:13:59.059" v="130" actId="1076"/>
          <ac:spMkLst>
            <pc:docMk/>
            <pc:sldMk cId="3744217247" sldId="281"/>
            <ac:spMk id="25" creationId="{A5CA9835-2A27-E3B2-E349-E0FE4429CFBE}"/>
          </ac:spMkLst>
        </pc:spChg>
        <pc:spChg chg="add mod">
          <ac:chgData name="purna chand" userId="6e54419aa65d471c" providerId="LiveId" clId="{2483B58E-5644-4E75-AA46-D334125ADD6E}" dt="2026-09-22T09:11:43.863" v="99" actId="1076"/>
          <ac:spMkLst>
            <pc:docMk/>
            <pc:sldMk cId="3744217247" sldId="281"/>
            <ac:spMk id="27" creationId="{769BA950-6049-F76A-4A0C-CF5ED87D2763}"/>
          </ac:spMkLst>
        </pc:spChg>
        <pc:spChg chg="add mod">
          <ac:chgData name="purna chand" userId="6e54419aa65d471c" providerId="LiveId" clId="{2483B58E-5644-4E75-AA46-D334125ADD6E}" dt="2026-09-22T09:11:56.197" v="101" actId="1076"/>
          <ac:spMkLst>
            <pc:docMk/>
            <pc:sldMk cId="3744217247" sldId="281"/>
            <ac:spMk id="29" creationId="{3B0312D2-1C2D-0FC3-47A4-8970E0D691E7}"/>
          </ac:spMkLst>
        </pc:spChg>
        <pc:spChg chg="add mod">
          <ac:chgData name="purna chand" userId="6e54419aa65d471c" providerId="LiveId" clId="{2483B58E-5644-4E75-AA46-D334125ADD6E}" dt="2026-09-22T09:12:22.479" v="109" actId="14100"/>
          <ac:spMkLst>
            <pc:docMk/>
            <pc:sldMk cId="3744217247" sldId="281"/>
            <ac:spMk id="31" creationId="{6FA49019-54D3-0F1F-3651-5D4892AE3078}"/>
          </ac:spMkLst>
        </pc:spChg>
        <pc:spChg chg="add mod">
          <ac:chgData name="purna chand" userId="6e54419aa65d471c" providerId="LiveId" clId="{2483B58E-5644-4E75-AA46-D334125ADD6E}" dt="2026-09-22T09:12:33.020" v="111" actId="1076"/>
          <ac:spMkLst>
            <pc:docMk/>
            <pc:sldMk cId="3744217247" sldId="281"/>
            <ac:spMk id="33" creationId="{6D0F4567-D057-4BE7-32A7-334EC2164A2C}"/>
          </ac:spMkLst>
        </pc:spChg>
        <pc:spChg chg="add mod">
          <ac:chgData name="purna chand" userId="6e54419aa65d471c" providerId="LiveId" clId="{2483B58E-5644-4E75-AA46-D334125ADD6E}" dt="2026-09-22T09:13:12.785" v="119" actId="1076"/>
          <ac:spMkLst>
            <pc:docMk/>
            <pc:sldMk cId="3744217247" sldId="281"/>
            <ac:spMk id="35" creationId="{53C43C12-4B70-F721-9E0A-DD8370D3BABC}"/>
          </ac:spMkLst>
        </pc:spChg>
        <pc:spChg chg="add mod">
          <ac:chgData name="purna chand" userId="6e54419aa65d471c" providerId="LiveId" clId="{2483B58E-5644-4E75-AA46-D334125ADD6E}" dt="2026-09-22T09:13:22.745" v="121" actId="1076"/>
          <ac:spMkLst>
            <pc:docMk/>
            <pc:sldMk cId="3744217247" sldId="281"/>
            <ac:spMk id="37" creationId="{D2A13C47-9211-7F6A-3235-E7CA857CC45D}"/>
          </ac:spMkLst>
        </pc:spChg>
        <pc:spChg chg="add mod">
          <ac:chgData name="purna chand" userId="6e54419aa65d471c" providerId="LiveId" clId="{2483B58E-5644-4E75-AA46-D334125ADD6E}" dt="2026-09-22T09:13:51.692" v="129" actId="1076"/>
          <ac:spMkLst>
            <pc:docMk/>
            <pc:sldMk cId="3744217247" sldId="281"/>
            <ac:spMk id="39" creationId="{A378BCE5-A3E9-0942-2521-8A05596F86BE}"/>
          </ac:spMkLst>
        </pc:spChg>
        <pc:grpChg chg="add mod">
          <ac:chgData name="purna chand" userId="6e54419aa65d471c" providerId="LiveId" clId="{2483B58E-5644-4E75-AA46-D334125ADD6E}" dt="2026-09-22T09:10:40.518" v="85"/>
          <ac:grpSpMkLst>
            <pc:docMk/>
            <pc:sldMk cId="3744217247" sldId="281"/>
            <ac:grpSpMk id="4" creationId="{F02D1B8B-963F-84C5-69F0-17C3EECCFD8D}"/>
          </ac:grpSpMkLst>
        </pc:grpChg>
        <pc:picChg chg="mod">
          <ac:chgData name="purna chand" userId="6e54419aa65d471c" providerId="LiveId" clId="{2483B58E-5644-4E75-AA46-D334125ADD6E}" dt="2026-09-22T09:10:40.518" v="85"/>
          <ac:picMkLst>
            <pc:docMk/>
            <pc:sldMk cId="3744217247" sldId="281"/>
            <ac:picMk id="10" creationId="{BD448D2F-A85D-4EA9-4AFA-DBD143FFC367}"/>
          </ac:picMkLst>
        </pc:picChg>
        <pc:picChg chg="del">
          <ac:chgData name="purna chand" userId="6e54419aa65d471c" providerId="LiveId" clId="{2483B58E-5644-4E75-AA46-D334125ADD6E}" dt="2026-09-22T09:10:20.918" v="83" actId="478"/>
          <ac:picMkLst>
            <pc:docMk/>
            <pc:sldMk cId="3744217247" sldId="281"/>
            <ac:picMk id="11" creationId="{A6C365DC-19B7-1764-968A-F9C87D5E4951}"/>
          </ac:picMkLst>
        </pc:picChg>
        <pc:picChg chg="mod">
          <ac:chgData name="purna chand" userId="6e54419aa65d471c" providerId="LiveId" clId="{2483B58E-5644-4E75-AA46-D334125ADD6E}" dt="2026-09-22T09:10:40.518" v="85"/>
          <ac:picMkLst>
            <pc:docMk/>
            <pc:sldMk cId="3744217247" sldId="281"/>
            <ac:picMk id="21" creationId="{70B9531E-FF63-3CBC-8C76-5101CEB24CF2}"/>
          </ac:picMkLst>
        </pc:picChg>
        <pc:picChg chg="mod">
          <ac:chgData name="purna chand" userId="6e54419aa65d471c" providerId="LiveId" clId="{2483B58E-5644-4E75-AA46-D334125ADD6E}" dt="2026-09-22T09:10:40.518" v="85"/>
          <ac:picMkLst>
            <pc:docMk/>
            <pc:sldMk cId="3744217247" sldId="281"/>
            <ac:picMk id="22" creationId="{A51A82D2-D894-569F-6C1F-514FA4F129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29-09-2026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lang="en-IN" sz="3200" dirty="0">
                <a:latin typeface="Times New Roman" pitchFamily="18" charset="0"/>
                <a:cs typeface="Times New Roman" pitchFamily="18" charset="0"/>
              </a:rPr>
              <a:t>Social media </a:t>
            </a:r>
            <a:r>
              <a:rPr sz="3200" dirty="0">
                <a:latin typeface="Times New Roman" pitchFamily="18" charset="0"/>
                <a:cs typeface="Times New Roman" pitchFamily="18" charset="0"/>
              </a:rPr>
              <a:t>Data Analysis</a:t>
            </a:r>
          </a:p>
        </p:txBody>
      </p:sp>
      <p:sp>
        <p:nvSpPr>
          <p:cNvPr id="7" name="TextBox 6"/>
          <p:cNvSpPr txBox="1"/>
          <p:nvPr/>
        </p:nvSpPr>
        <p:spPr>
          <a:xfrm>
            <a:off x="1051560" y="3657600"/>
            <a:ext cx="7955279" cy="2824363"/>
          </a:xfrm>
          <a:prstGeom prst="rect">
            <a:avLst/>
          </a:prstGeom>
          <a:noFill/>
        </p:spPr>
        <p:txBody>
          <a:bodyPr wrap="square">
            <a:spAutoFit/>
          </a:bodyPr>
          <a:lstStyle/>
          <a:p>
            <a:pPr algn="ctr">
              <a:spcAft>
                <a:spcPts val="700"/>
              </a:spcAft>
              <a:defRPr sz="1400" b="0">
                <a:solidFill>
                  <a:srgbClr val="2D2D2D"/>
                </a:solidFill>
                <a:latin typeface="Aptos"/>
              </a:defRPr>
            </a:pPr>
            <a:r>
              <a:rPr sz="2400" b="1" dirty="0">
                <a:solidFill>
                  <a:srgbClr val="FF0000"/>
                </a:solidFill>
                <a:latin typeface="Times New Roman" pitchFamily="18" charset="0"/>
                <a:cs typeface="Times New Roman" pitchFamily="18" charset="0"/>
              </a:rPr>
              <a:t>Presented by</a:t>
            </a:r>
            <a:endParaRPr lang="en-IN" sz="2400" b="1" dirty="0">
              <a:solidFill>
                <a:srgbClr val="FF0000"/>
              </a:solidFill>
              <a:latin typeface="Times New Roman" pitchFamily="18" charset="0"/>
              <a:cs typeface="Times New Roman" pitchFamily="18" charset="0"/>
            </a:endParaRPr>
          </a:p>
          <a:p>
            <a:pPr algn="ctr">
              <a:spcAft>
                <a:spcPts val="700"/>
              </a:spcAft>
              <a:defRPr sz="1400" b="0">
                <a:solidFill>
                  <a:srgbClr val="2D2D2D"/>
                </a:solidFill>
                <a:latin typeface="Aptos"/>
              </a:defRPr>
            </a:pPr>
            <a:r>
              <a:rPr lang="en-IN" sz="2400" b="1" dirty="0">
                <a:solidFill>
                  <a:srgbClr val="FF0000"/>
                </a:solidFill>
                <a:latin typeface="Times New Roman" pitchFamily="18" charset="0"/>
                <a:cs typeface="Times New Roman" pitchFamily="18" charset="0"/>
              </a:rPr>
              <a:t>Team 14</a:t>
            </a:r>
            <a:endParaRPr sz="2400" b="1" dirty="0">
              <a:solidFill>
                <a:srgbClr val="FF0000"/>
              </a:solidFill>
              <a:latin typeface="Times New Roman" pitchFamily="18" charset="0"/>
              <a:cs typeface="Times New Roman" pitchFamily="18" charset="0"/>
            </a:endParaRPr>
          </a:p>
          <a:p>
            <a:pPr algn="ctr">
              <a:spcAft>
                <a:spcPts val="700"/>
              </a:spcAft>
              <a:defRPr sz="1400" b="0">
                <a:solidFill>
                  <a:srgbClr val="2D2D2D"/>
                </a:solidFill>
                <a:latin typeface="Aptos"/>
              </a:defRPr>
            </a:pPr>
            <a:r>
              <a:rPr lang="en-IN" sz="1600" b="1" dirty="0">
                <a:latin typeface="Times New Roman" pitchFamily="18" charset="0"/>
                <a:cs typeface="Times New Roman" pitchFamily="18" charset="0"/>
              </a:rPr>
              <a:t>TEAM LEADER : </a:t>
            </a:r>
            <a:r>
              <a:rPr lang="en-IN" sz="1600" b="1" dirty="0" err="1">
                <a:latin typeface="Times New Roman" pitchFamily="18" charset="0"/>
                <a:cs typeface="Times New Roman" pitchFamily="18" charset="0"/>
              </a:rPr>
              <a:t>S.penchala</a:t>
            </a:r>
            <a:r>
              <a:rPr lang="en-IN" sz="1600" b="1" dirty="0">
                <a:latin typeface="Times New Roman" pitchFamily="18" charset="0"/>
                <a:cs typeface="Times New Roman" pitchFamily="18" charset="0"/>
              </a:rPr>
              <a:t> chaitanya 25B11CS902</a:t>
            </a:r>
          </a:p>
          <a:p>
            <a:pPr lvl="0" algn="ctr" defTabSz="914400">
              <a:lnSpc>
                <a:spcPct val="90000"/>
              </a:lnSpc>
              <a:spcBef>
                <a:spcPts val="600"/>
              </a:spcBef>
              <a:defRPr/>
            </a:pPr>
            <a:r>
              <a:rPr lang="en-IN" sz="1600" dirty="0" err="1"/>
              <a:t>Konappagari</a:t>
            </a:r>
            <a:r>
              <a:rPr lang="en-IN" sz="1600" dirty="0"/>
              <a:t> Pandu - 25B11CS457 </a:t>
            </a:r>
          </a:p>
          <a:p>
            <a:pPr lvl="0" algn="ctr" defTabSz="914400">
              <a:lnSpc>
                <a:spcPct val="90000"/>
              </a:lnSpc>
              <a:spcBef>
                <a:spcPts val="600"/>
              </a:spcBef>
              <a:defRPr/>
            </a:pPr>
            <a:r>
              <a:rPr lang="en-IN" sz="1600" dirty="0"/>
              <a:t>S Radha Sai Lakshmi - 25B11CS854 </a:t>
            </a:r>
          </a:p>
          <a:p>
            <a:pPr lvl="0" algn="ctr" defTabSz="914400">
              <a:lnSpc>
                <a:spcPct val="90000"/>
              </a:lnSpc>
              <a:spcBef>
                <a:spcPts val="600"/>
              </a:spcBef>
              <a:defRPr/>
            </a:pPr>
            <a:r>
              <a:rPr lang="en-IN" sz="1600" dirty="0"/>
              <a:t>M Divya - 25B11CS520 </a:t>
            </a:r>
            <a:endParaRPr lang="en-US" sz="1600" b="1" dirty="0">
              <a:solidFill>
                <a:srgbClr val="002060"/>
              </a:solidFill>
              <a:latin typeface="Tw Cen MT" panose="020B0602020104020603" pitchFamily="34" charset="0"/>
            </a:endParaRPr>
          </a:p>
          <a:p>
            <a:pPr algn="ctr">
              <a:spcAft>
                <a:spcPts val="700"/>
              </a:spcAft>
              <a:defRPr sz="1400" b="0">
                <a:solidFill>
                  <a:srgbClr val="2D2D2D"/>
                </a:solidFill>
                <a:latin typeface="Aptos"/>
              </a:defRPr>
            </a:pPr>
            <a:endParaRPr lang="en-IN" sz="1600" b="1" dirty="0">
              <a:latin typeface="Times New Roman" pitchFamily="18" charset="0"/>
              <a:cs typeface="Times New Roman" pitchFamily="18" charset="0"/>
            </a:endParaRPr>
          </a:p>
          <a:p>
            <a:pPr algn="ctr">
              <a:spcAft>
                <a:spcPts val="700"/>
              </a:spcAft>
              <a:defRPr sz="1400" b="0">
                <a:solidFill>
                  <a:srgbClr val="2D2D2D"/>
                </a:solidFill>
                <a:latin typeface="Aptos"/>
              </a:defRPr>
            </a:pPr>
            <a:r>
              <a:rPr sz="1600" b="1" dirty="0">
                <a:latin typeface="Times New Roman" pitchFamily="18" charset="0"/>
                <a:cs typeface="Times New Roman" pitchFamily="18" charset="0"/>
              </a:rPr>
              <a:t>Guide: Mr. </a:t>
            </a:r>
            <a:r>
              <a:rPr sz="1600" b="1" dirty="0" err="1">
                <a:latin typeface="Times New Roman" pitchFamily="18" charset="0"/>
                <a:cs typeface="Times New Roman" pitchFamily="18" charset="0"/>
              </a:rPr>
              <a:t>K. Ashok Teja, Assistant Professor, CSE Dept.</a:t>
            </a:r>
          </a:p>
        </p:txBody>
      </p:sp>
      <p:sp>
        <p:nvSpPr>
          <p:cNvPr id="8" name="TextBox 7"/>
          <p:cNvSpPr txBox="1"/>
          <p:nvPr/>
        </p:nvSpPr>
        <p:spPr>
          <a:xfrm>
            <a:off x="914400" y="6446520"/>
            <a:ext cx="82296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052665"/>
          </a:xfrm>
          <a:prstGeom prst="rect">
            <a:avLst/>
          </a:prstGeom>
          <a:noFill/>
        </p:spPr>
        <p:txBody>
          <a:bodyPr wrap="square">
            <a:spAutoFit/>
          </a:bodyPr>
          <a:lstStyle/>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Problem Understanding</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Introduction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Current Approach &amp; Limitations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Proposed Approach</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Dataset Description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Requirements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Methodology</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 Visualization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Key Insights &amp; Analysis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Implementation Workflow</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UNDERSTANDING</a:t>
            </a:r>
          </a:p>
        </p:txBody>
      </p:sp>
      <p:sp>
        <p:nvSpPr>
          <p:cNvPr id="12" name="TextBox 11"/>
          <p:cNvSpPr txBox="1"/>
          <p:nvPr/>
        </p:nvSpPr>
        <p:spPr>
          <a:xfrm>
            <a:off x="533400" y="1503111"/>
            <a:ext cx="8686800" cy="5370701"/>
          </a:xfrm>
          <a:prstGeom prst="rect">
            <a:avLst/>
          </a:prstGeom>
          <a:noFill/>
        </p:spPr>
        <p:txBody>
          <a:bodyPr wrap="square">
            <a:spAutoFit/>
          </a:bodyPr>
          <a:lstStyle/>
          <a:p>
            <a:pPr algn="just">
              <a:spcAft>
                <a:spcPts val="700"/>
              </a:spcAft>
              <a:defRPr sz="1900" b="0">
                <a:solidFill>
                  <a:srgbClr val="2D2D2D"/>
                </a:solidFill>
                <a:latin typeface="Aptos"/>
              </a:defRPr>
            </a:pPr>
            <a:r>
              <a:rPr lang="en-US" sz="2200" dirty="0" err="1"/>
              <a:t>Organisations</a:t>
            </a:r>
            <a:r>
              <a:rPr lang="en-US" sz="2200" dirty="0"/>
              <a:t> want to use social media data to understand people, but raw posts are big, messy, and full of noise like links, emojis, and slang.</a:t>
            </a:r>
          </a:p>
          <a:p>
            <a:pPr algn="just">
              <a:spcAft>
                <a:spcPts val="700"/>
              </a:spcAft>
              <a:defRPr sz="1900" b="0">
                <a:solidFill>
                  <a:srgbClr val="2D2D2D"/>
                </a:solidFill>
                <a:latin typeface="Aptos"/>
              </a:defRPr>
            </a:pPr>
            <a:r>
              <a:rPr lang="en-US" sz="2200" dirty="0"/>
              <a:t>This makes it hard to see clear patterns, sentiment, or trends directly from the data.</a:t>
            </a:r>
          </a:p>
          <a:p>
            <a:pPr algn="just">
              <a:spcAft>
                <a:spcPts val="700"/>
              </a:spcAft>
              <a:defRPr sz="1900" b="0">
                <a:solidFill>
                  <a:srgbClr val="2D2D2D"/>
                </a:solidFill>
                <a:latin typeface="Aptos"/>
              </a:defRPr>
            </a:pPr>
            <a:r>
              <a:rPr lang="en-US" sz="2200" dirty="0"/>
              <a:t>In this project, we use Python to clean the social media text and prepare it for analysis.</a:t>
            </a:r>
          </a:p>
          <a:p>
            <a:pPr algn="just">
              <a:spcAft>
                <a:spcPts val="700"/>
              </a:spcAft>
              <a:defRPr sz="1900" b="0">
                <a:solidFill>
                  <a:srgbClr val="2D2D2D"/>
                </a:solidFill>
                <a:latin typeface="Aptos"/>
              </a:defRPr>
            </a:pPr>
            <a:r>
              <a:rPr lang="en-US" sz="2200" dirty="0"/>
              <a:t>We then apply Exploratory Data Analysis (EDA) to find patterns in the data.</a:t>
            </a:r>
          </a:p>
          <a:p>
            <a:pPr algn="just">
              <a:spcAft>
                <a:spcPts val="700"/>
              </a:spcAft>
              <a:defRPr sz="1900" b="0">
                <a:solidFill>
                  <a:srgbClr val="2D2D2D"/>
                </a:solidFill>
                <a:latin typeface="Aptos"/>
              </a:defRPr>
            </a:pPr>
            <a:r>
              <a:rPr lang="en-US" sz="2200" dirty="0"/>
              <a:t>We measure sentiment (positive, negative, neutral) and see how it changes over time and topics.</a:t>
            </a:r>
          </a:p>
          <a:p>
            <a:pPr algn="just">
              <a:spcAft>
                <a:spcPts val="700"/>
              </a:spcAft>
              <a:defRPr sz="1900" b="0">
                <a:solidFill>
                  <a:srgbClr val="2D2D2D"/>
                </a:solidFill>
                <a:latin typeface="Aptos"/>
              </a:defRPr>
            </a:pPr>
            <a:r>
              <a:rPr lang="en-US" sz="2200" dirty="0"/>
              <a:t>We also identify the most common words and themes in the posts.</a:t>
            </a:r>
          </a:p>
          <a:p>
            <a:pPr algn="just">
              <a:spcAft>
                <a:spcPts val="700"/>
              </a:spcAft>
              <a:defRPr sz="1900" b="0">
                <a:solidFill>
                  <a:srgbClr val="2D2D2D"/>
                </a:solidFill>
                <a:latin typeface="Aptos"/>
              </a:defRPr>
            </a:pPr>
            <a:r>
              <a:rPr lang="en-US" sz="2200" dirty="0"/>
              <a:t>Finally, we create simple charts and insights to help </a:t>
            </a:r>
            <a:r>
              <a:rPr lang="en-US" sz="2200" dirty="0" err="1"/>
              <a:t>organisations</a:t>
            </a:r>
            <a:r>
              <a:rPr lang="en-US" sz="2200" dirty="0"/>
              <a:t> make better, data-driven decisions.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685800" y="1417320"/>
            <a:ext cx="8778240" cy="5711820"/>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Every domain — healthcare, finance, security, retail — now generates large volumes of raw data.</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Useful insights are often hidden inside messy, unstructured, or incomplete records.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Raw data commonly contains missing values, duplicates, and inconsistent formats.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Python-based data analysis helps clean, structure, and interpret this information.</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This project uses Pandas, NumPy, Matplotlib, and Seaborn for analysis.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Clear visualizations make complex patterns easy to understand and present.</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Current / Manual Approach</a:t>
            </a:r>
          </a:p>
        </p:txBody>
      </p:sp>
      <p:sp>
        <p:nvSpPr>
          <p:cNvPr id="19" name="TextBox 18"/>
          <p:cNvSpPr txBox="1"/>
          <p:nvPr/>
        </p:nvSpPr>
        <p:spPr>
          <a:xfrm>
            <a:off x="685800" y="1417320"/>
            <a:ext cx="8763000" cy="4708981"/>
          </a:xfrm>
          <a:prstGeom prst="rect">
            <a:avLst/>
          </a:prstGeom>
          <a:noFill/>
        </p:spPr>
        <p:txBody>
          <a:bodyPr wrap="square">
            <a:spAutoFit/>
          </a:bodyPr>
          <a:lstStyle/>
          <a:p>
            <a:pPr lvl="0"/>
            <a:r>
              <a:rPr lang="en-IN" sz="2500" b="1" dirty="0"/>
              <a:t>Read &amp; Review:</a:t>
            </a:r>
            <a:r>
              <a:rPr lang="en-IN" sz="2500" dirty="0"/>
              <a:t> An analyst manually reads a sample of posts to understand the real conversation.</a:t>
            </a:r>
          </a:p>
          <a:p>
            <a:pPr lvl="0"/>
            <a:endParaRPr lang="en-IN" sz="2500" dirty="0"/>
          </a:p>
          <a:p>
            <a:pPr lvl="0"/>
            <a:r>
              <a:rPr lang="en-IN" sz="2500" b="1" dirty="0"/>
              <a:t>Sort &amp; Categorize:</a:t>
            </a:r>
            <a:r>
              <a:rPr lang="en-IN" sz="2500" dirty="0"/>
              <a:t> Each post is sorted into specific buckets based on its tone or topic (e.g., positive, negative, pricing).</a:t>
            </a:r>
          </a:p>
          <a:p>
            <a:pPr lvl="0"/>
            <a:endParaRPr lang="en-IN" sz="2500" dirty="0"/>
          </a:p>
          <a:p>
            <a:pPr lvl="0"/>
            <a:r>
              <a:rPr lang="en-IN" sz="2500" b="1" dirty="0"/>
              <a:t>Understand Context:</a:t>
            </a:r>
            <a:r>
              <a:rPr lang="en-IN" sz="2500" dirty="0"/>
              <a:t> A human accurately catches sarcasm, slang, and emojis that automated software usually misses.</a:t>
            </a:r>
          </a:p>
          <a:p>
            <a:pPr lvl="0"/>
            <a:endParaRPr lang="en-IN" sz="2500" dirty="0"/>
          </a:p>
          <a:p>
            <a:pPr lvl="0"/>
            <a:r>
              <a:rPr lang="en-IN" sz="2500" b="1" dirty="0"/>
              <a:t>Identify Trends:</a:t>
            </a:r>
            <a:r>
              <a:rPr lang="en-IN" sz="2500" dirty="0"/>
              <a:t> The analyst looks at the sorted data to summarize the most common themes and key insights</a:t>
            </a:r>
            <a:r>
              <a:rPr lang="en-IN" sz="2400" dirty="0"/>
              <a:t>.</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Limitations of Manual Analysis</a:t>
            </a:r>
          </a:p>
        </p:txBody>
      </p:sp>
      <p:sp>
        <p:nvSpPr>
          <p:cNvPr id="19" name="TextBox 18"/>
          <p:cNvSpPr txBox="1"/>
          <p:nvPr/>
        </p:nvSpPr>
        <p:spPr>
          <a:xfrm>
            <a:off x="685800" y="1325880"/>
            <a:ext cx="8778240" cy="6093976"/>
          </a:xfrm>
          <a:prstGeom prst="rect">
            <a:avLst/>
          </a:prstGeom>
          <a:noFill/>
        </p:spPr>
        <p:txBody>
          <a:bodyPr wrap="square">
            <a:spAutoFit/>
          </a:bodyPr>
          <a:lstStyle/>
          <a:p>
            <a:pPr lvl="0"/>
            <a:r>
              <a:rPr sz="2600" dirty="0">
                <a:latin typeface="Times New Roman" panose="02020603050405020304" pitchFamily="18" charset="0"/>
                <a:cs typeface="Times New Roman" panose="02020603050405020304" pitchFamily="18" charset="0"/>
              </a:rPr>
              <a:t>• </a:t>
            </a:r>
            <a:r>
              <a:rPr lang="en-IN" sz="2600" b="1" dirty="0"/>
              <a:t>Slow &amp; Hard to Scale:</a:t>
            </a:r>
            <a:r>
              <a:rPr lang="en-IN" sz="2600" dirty="0"/>
              <a:t> It takes a massive amount of time to read posts one by one, making it impossible to </a:t>
            </a:r>
            <a:r>
              <a:rPr lang="en-IN" sz="2600" dirty="0" err="1"/>
              <a:t>analyze</a:t>
            </a:r>
            <a:r>
              <a:rPr lang="en-IN" sz="2600" dirty="0"/>
              <a:t> millions of posts or track real-time viral trends.</a:t>
            </a:r>
          </a:p>
          <a:p>
            <a:pPr lvl="0"/>
            <a:endParaRPr lang="en-IN" sz="2600" dirty="0"/>
          </a:p>
          <a:p>
            <a:pPr lvl="0"/>
            <a:r>
              <a:rPr lang="en-IN" sz="2600" b="1" dirty="0"/>
              <a:t>Subjective Human Bias:</a:t>
            </a:r>
            <a:r>
              <a:rPr lang="en-IN" sz="2600" dirty="0"/>
              <a:t> Two different analysts might interpret the exact same post differently, leading to inconsistent data depending on who is reading it.</a:t>
            </a:r>
          </a:p>
          <a:p>
            <a:pPr lvl="0"/>
            <a:endParaRPr lang="en-IN" sz="2600" dirty="0"/>
          </a:p>
          <a:p>
            <a:pPr lvl="0"/>
            <a:r>
              <a:rPr lang="en-IN" sz="2600" b="1" dirty="0"/>
              <a:t>High Costs &amp; Labor:</a:t>
            </a:r>
            <a:r>
              <a:rPr lang="en-IN" sz="2600" dirty="0"/>
              <a:t> Hiring teams of people to manually sort through data is far more expensive and resource-heavy than using automated software.</a:t>
            </a:r>
          </a:p>
          <a:p>
            <a:pPr lvl="0"/>
            <a:endParaRPr lang="en-IN" sz="2600" dirty="0"/>
          </a:p>
          <a:p>
            <a:pPr lvl="0"/>
            <a:r>
              <a:rPr lang="en-IN" sz="2600" b="1" dirty="0"/>
              <a:t>Prone to Fatigue:</a:t>
            </a:r>
            <a:r>
              <a:rPr lang="en-IN" sz="2600" dirty="0"/>
              <a:t> Reading hundreds of social media comments is exhausting, which naturally leads to human error and missed details as the analyst gets tired.</a:t>
            </a: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Proposed Approach</a:t>
            </a:r>
          </a:p>
        </p:txBody>
      </p:sp>
      <p:sp>
        <p:nvSpPr>
          <p:cNvPr id="19" name="TextBox 18"/>
          <p:cNvSpPr txBox="1"/>
          <p:nvPr/>
        </p:nvSpPr>
        <p:spPr>
          <a:xfrm>
            <a:off x="777240" y="1234440"/>
            <a:ext cx="8503920" cy="5478423"/>
          </a:xfrm>
          <a:prstGeom prst="rect">
            <a:avLst/>
          </a:prstGeom>
          <a:noFill/>
        </p:spPr>
        <p:txBody>
          <a:bodyPr wrap="square">
            <a:spAutoFit/>
          </a:bodyPr>
          <a:lstStyle/>
          <a:p>
            <a:pPr lvl="0"/>
            <a:r>
              <a:rPr lang="en-IN" sz="2500" b="1" dirty="0"/>
              <a:t>Fetch Data:</a:t>
            </a:r>
            <a:r>
              <a:rPr lang="en-IN" sz="2500" dirty="0"/>
              <a:t> Automatically pull live posts and headlines using RSS feeds or APIs.</a:t>
            </a:r>
          </a:p>
          <a:p>
            <a:pPr lvl="0"/>
            <a:endParaRPr lang="en-IN" sz="2500" dirty="0"/>
          </a:p>
          <a:p>
            <a:pPr lvl="0"/>
            <a:r>
              <a:rPr lang="en-IN" sz="2500" b="1" dirty="0"/>
              <a:t>Clean Text:</a:t>
            </a:r>
            <a:r>
              <a:rPr lang="en-IN" sz="2500" dirty="0"/>
              <a:t> Strip out web junk, HTML tags, links, and duplicate posts.</a:t>
            </a:r>
          </a:p>
          <a:p>
            <a:pPr lvl="0"/>
            <a:endParaRPr lang="en-IN" sz="2500" dirty="0"/>
          </a:p>
          <a:p>
            <a:pPr lvl="0"/>
            <a:r>
              <a:rPr lang="en-IN" sz="2500" b="1" dirty="0"/>
              <a:t>Score Sentiment:</a:t>
            </a:r>
            <a:r>
              <a:rPr lang="en-IN" sz="2500" dirty="0"/>
              <a:t> Use AI (like VADER) to classify tone as positive, negative, or neutral.</a:t>
            </a:r>
          </a:p>
          <a:p>
            <a:pPr lvl="0"/>
            <a:endParaRPr lang="en-IN" sz="2500" dirty="0"/>
          </a:p>
          <a:p>
            <a:pPr lvl="0"/>
            <a:r>
              <a:rPr lang="en-IN" sz="2500" b="1" dirty="0"/>
              <a:t>Extract Keywords:</a:t>
            </a:r>
            <a:r>
              <a:rPr lang="en-IN" sz="2500" dirty="0"/>
              <a:t> Remove filler words to uncover the most discussed topics.</a:t>
            </a:r>
          </a:p>
          <a:p>
            <a:pPr lvl="0"/>
            <a:endParaRPr lang="en-IN" sz="2500" dirty="0"/>
          </a:p>
          <a:p>
            <a:pPr lvl="0"/>
            <a:r>
              <a:rPr lang="en-IN" sz="2500" b="1" dirty="0"/>
              <a:t>Visualize Results:</a:t>
            </a:r>
            <a:r>
              <a:rPr lang="en-IN" sz="2500" dirty="0"/>
              <a:t> Display the data on live charts and dashboards for instant insights.</a:t>
            </a: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AD859-A5A2-6BB2-A48C-E87372051B91}"/>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3C3DA6F1-CFA4-0720-9AE4-2381C3DD94A8}"/>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1CAC13B3-B92C-08AC-477B-B7228BAA156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A4CAA9D8-B65E-21C0-1F0E-ABA9CE70958D}"/>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AD75D55D-939D-C2FF-DDEA-4F7E3BE56DDF}"/>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98B343DC-E121-B046-93DB-1D9335E156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a:extLst>
              <a:ext uri="{FF2B5EF4-FFF2-40B4-BE49-F238E27FC236}">
                <a16:creationId xmlns:a16="http://schemas.microsoft.com/office/drawing/2014/main" id="{182DE8C9-A7CF-3F08-D7A3-7BABE5E5E8EC}"/>
              </a:ext>
            </a:extLst>
          </p:cNvPr>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DATASET DESCRIPTION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3DEC47D-53AF-DB50-117F-A85BB6C27F73}"/>
                  </a:ext>
                </a:extLst>
              </p:cNvPr>
              <p:cNvSpPr txBox="1"/>
              <p:nvPr/>
            </p:nvSpPr>
            <p:spPr>
              <a:xfrm>
                <a:off x="777240" y="1234440"/>
                <a:ext cx="8503920" cy="4785926"/>
              </a:xfrm>
              <a:prstGeom prst="rect">
                <a:avLst/>
              </a:prstGeom>
              <a:noFill/>
            </p:spPr>
            <p:txBody>
              <a:bodyPr wrap="square">
                <a:spAutoFit/>
              </a:bodyPr>
              <a:lstStyle/>
              <a:p>
                <a:pPr lvl="0"/>
                <a:r>
                  <a:rPr lang="en-IN" sz="2800" b="1" dirty="0"/>
                  <a:t>Data Source:</a:t>
                </a:r>
                <a:r>
                  <a:rPr lang="en-IN" sz="2800" dirty="0"/>
                  <a:t> Live RSS feeds pulled from global news outlets (</a:t>
                </a:r>
                <a:r>
                  <a:rPr lang="en-IN" sz="2800" i="1" dirty="0"/>
                  <a:t>BBC News</a:t>
                </a:r>
                <a:r>
                  <a:rPr lang="en-IN" sz="2800" dirty="0"/>
                  <a:t>, </a:t>
                </a:r>
                <a:r>
                  <a:rPr lang="en-IN" sz="2800" i="1" dirty="0"/>
                  <a:t>The New York Times</a:t>
                </a:r>
                <a:r>
                  <a:rPr lang="en-IN" sz="2800" dirty="0"/>
                  <a:t>, </a:t>
                </a:r>
                <a:r>
                  <a:rPr lang="en-IN" sz="2800" i="1" dirty="0"/>
                  <a:t>The Guardian</a:t>
                </a:r>
                <a:r>
                  <a:rPr lang="en-IN" sz="2800" dirty="0"/>
                  <a:t>).</a:t>
                </a:r>
              </a:p>
              <a:p>
                <a:pPr lvl="0"/>
                <a:r>
                  <a:rPr lang="en-IN" sz="2800" b="1" dirty="0"/>
                  <a:t>Dataset Size:</a:t>
                </a:r>
                <a:r>
                  <a:rPr lang="en-IN" sz="2800" dirty="0"/>
                  <a:t> 30 total articles (strictly capped at </a:t>
                </a:r>
                <a:r>
                  <a:rPr lang="en-IN" sz="2800" b="1" dirty="0"/>
                  <a:t>10 articles per source</a:t>
                </a:r>
                <a:r>
                  <a:rPr lang="en-IN" sz="2800" dirty="0"/>
                  <a:t> for balanced sampling).</a:t>
                </a:r>
              </a:p>
              <a:p>
                <a:pPr lvl="0"/>
                <a:r>
                  <a:rPr lang="en-IN" sz="2800" b="1" dirty="0"/>
                  <a:t>Primary Inputs:</a:t>
                </a:r>
                <a:r>
                  <a:rPr lang="en-IN" sz="2800" dirty="0"/>
                  <a:t> Article titles, short summaries, and news source names.</a:t>
                </a:r>
              </a:p>
              <a:p>
                <a:pPr lvl="0"/>
                <a:r>
                  <a:rPr lang="en-IN" sz="2800" b="1" dirty="0"/>
                  <a:t>Extracted Outputs:</a:t>
                </a:r>
                <a:r>
                  <a:rPr lang="en-IN" sz="2800" dirty="0"/>
                  <a:t> Numerical sentiment scores (</a:t>
                </a:r>
                <a14:m>
                  <m:oMath xmlns:m="http://schemas.openxmlformats.org/officeDocument/2006/math">
                    <m:r>
                      <a:rPr lang="en-IN" sz="2800">
                        <a:latin typeface="Cambria Math" panose="02040503050406030204" pitchFamily="18" charset="0"/>
                      </a:rPr>
                      <m:t>−1.0</m:t>
                    </m:r>
                  </m:oMath>
                </a14:m>
                <a:r>
                  <a:rPr lang="en-IN" sz="2800" dirty="0"/>
                  <a:t> to </a:t>
                </a:r>
                <a14:m>
                  <m:oMath xmlns:m="http://schemas.openxmlformats.org/officeDocument/2006/math">
                    <m:r>
                      <a:rPr lang="en-IN" sz="2800">
                        <a:latin typeface="Cambria Math" panose="02040503050406030204" pitchFamily="18" charset="0"/>
                      </a:rPr>
                      <m:t>+1.0</m:t>
                    </m:r>
                  </m:oMath>
                </a14:m>
                <a:r>
                  <a:rPr lang="en-IN" sz="2800" dirty="0"/>
                  <a:t>), categorical tone labels (</a:t>
                </a:r>
                <a:r>
                  <a:rPr lang="en-IN" sz="2800" i="1" dirty="0"/>
                  <a:t>Positive</a:t>
                </a:r>
                <a:r>
                  <a:rPr lang="en-IN" sz="2800" dirty="0"/>
                  <a:t>, </a:t>
                </a:r>
                <a:r>
                  <a:rPr lang="en-IN" sz="2800" i="1" dirty="0"/>
                  <a:t>Neutral</a:t>
                </a:r>
                <a:r>
                  <a:rPr lang="en-IN" sz="2800" dirty="0"/>
                  <a:t>, </a:t>
                </a:r>
                <a:r>
                  <a:rPr lang="en-IN" sz="2800" i="1" dirty="0"/>
                  <a:t>Negative</a:t>
                </a:r>
                <a:r>
                  <a:rPr lang="en-IN" sz="2800" dirty="0"/>
                  <a:t>), and top keyword frequencies.</a:t>
                </a:r>
              </a:p>
              <a:p>
                <a:pPr lvl="0"/>
                <a:endParaRPr lang="en-IN" sz="2500" dirty="0"/>
              </a:p>
            </p:txBody>
          </p:sp>
        </mc:Choice>
        <mc:Fallback xmlns="">
          <p:sp>
            <p:nvSpPr>
              <p:cNvPr id="19" name="TextBox 18">
                <a:extLst>
                  <a:ext uri="{FF2B5EF4-FFF2-40B4-BE49-F238E27FC236}">
                    <a16:creationId xmlns:a16="http://schemas.microsoft.com/office/drawing/2014/main" id="{A3DEC47D-53AF-DB50-117F-A85BB6C27F73}"/>
                  </a:ext>
                </a:extLst>
              </p:cNvPr>
              <p:cNvSpPr txBox="1">
                <a:spLocks noRot="1" noChangeAspect="1" noMove="1" noResize="1" noEditPoints="1" noAdjustHandles="1" noChangeArrowheads="1" noChangeShapeType="1" noTextEdit="1"/>
              </p:cNvSpPr>
              <p:nvPr/>
            </p:nvSpPr>
            <p:spPr>
              <a:xfrm>
                <a:off x="777240" y="1234440"/>
                <a:ext cx="8503920" cy="4785926"/>
              </a:xfrm>
              <a:prstGeom prst="rect">
                <a:avLst/>
              </a:prstGeom>
              <a:blipFill>
                <a:blip r:embed="rId5"/>
                <a:stretch>
                  <a:fillRect l="-1505" t="-1401" r="-1720"/>
                </a:stretch>
              </a:blipFill>
            </p:spPr>
            <p:txBody>
              <a:bodyPr/>
              <a:lstStyle/>
              <a:p>
                <a:r>
                  <a:rPr lang="en-IN">
                    <a:noFill/>
                  </a:rPr>
                  <a:t> </a:t>
                </a:r>
              </a:p>
            </p:txBody>
          </p:sp>
        </mc:Fallback>
      </mc:AlternateContent>
    </p:spTree>
    <p:extLst>
      <p:ext uri="{BB962C8B-B14F-4D97-AF65-F5344CB8AC3E}">
        <p14:creationId xmlns:p14="http://schemas.microsoft.com/office/powerpoint/2010/main" val="326803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819400" y="52623"/>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REQUIREMENTS</a:t>
            </a:r>
          </a:p>
        </p:txBody>
      </p:sp>
      <p:sp>
        <p:nvSpPr>
          <p:cNvPr id="19" name="TextBox 18"/>
          <p:cNvSpPr txBox="1"/>
          <p:nvPr/>
        </p:nvSpPr>
        <p:spPr>
          <a:xfrm>
            <a:off x="731520" y="1234440"/>
            <a:ext cx="3840480" cy="461665"/>
          </a:xfrm>
          <a:prstGeom prst="rect">
            <a:avLst/>
          </a:prstGeom>
          <a:noFill/>
        </p:spPr>
        <p:txBody>
          <a:bodyPr wrap="square">
            <a:spAutoFit/>
          </a:bodyPr>
          <a:lstStyle/>
          <a:p>
            <a:pPr algn="l">
              <a:spcAft>
                <a:spcPts val="700"/>
              </a:spcAft>
              <a:defRPr sz="2000" b="1">
                <a:solidFill>
                  <a:srgbClr val="233464"/>
                </a:solidFill>
                <a:latin typeface="Aptos"/>
              </a:defRPr>
            </a:pPr>
            <a:r>
              <a:rPr sz="2400" dirty="0">
                <a:latin typeface="Times New Roman" pitchFamily="18" charset="0"/>
                <a:cs typeface="Times New Roman" pitchFamily="18" charset="0"/>
              </a:rPr>
              <a:t>Hardware Requirements</a:t>
            </a:r>
          </a:p>
        </p:txBody>
      </p:sp>
      <p:sp>
        <p:nvSpPr>
          <p:cNvPr id="20" name="TextBox 19"/>
          <p:cNvSpPr txBox="1"/>
          <p:nvPr/>
        </p:nvSpPr>
        <p:spPr>
          <a:xfrm>
            <a:off x="822960" y="1737360"/>
            <a:ext cx="3840480" cy="1379865"/>
          </a:xfrm>
          <a:prstGeom prst="rect">
            <a:avLst/>
          </a:prstGeom>
          <a:noFill/>
        </p:spPr>
        <p:txBody>
          <a:bodyPr wrap="square">
            <a:spAutoFit/>
          </a:bodyPr>
          <a:lstStyle/>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Processor: Intel i3 or above</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RAM: Minimum 4 GB</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Storage: 20 GB</a:t>
            </a:r>
          </a:p>
        </p:txBody>
      </p:sp>
      <p:sp>
        <p:nvSpPr>
          <p:cNvPr id="21" name="TextBox 20"/>
          <p:cNvSpPr txBox="1"/>
          <p:nvPr/>
        </p:nvSpPr>
        <p:spPr>
          <a:xfrm>
            <a:off x="609600" y="3676972"/>
            <a:ext cx="3840480" cy="461665"/>
          </a:xfrm>
          <a:prstGeom prst="rect">
            <a:avLst/>
          </a:prstGeom>
          <a:noFill/>
        </p:spPr>
        <p:txBody>
          <a:bodyPr wrap="square">
            <a:spAutoFit/>
          </a:bodyPr>
          <a:lstStyle/>
          <a:p>
            <a:pPr algn="l">
              <a:spcAft>
                <a:spcPts val="700"/>
              </a:spcAft>
              <a:defRPr sz="2000" b="1">
                <a:solidFill>
                  <a:srgbClr val="233464"/>
                </a:solidFill>
                <a:latin typeface="Aptos"/>
              </a:defRPr>
            </a:pPr>
            <a:r>
              <a:rPr lang="en-IN" sz="2400" dirty="0">
                <a:latin typeface="Times New Roman" pitchFamily="18" charset="0"/>
                <a:cs typeface="Times New Roman" pitchFamily="18" charset="0"/>
              </a:rPr>
              <a:t>Software Requirements</a:t>
            </a:r>
            <a:endParaRPr sz="2400" dirty="0">
              <a:latin typeface="Times New Roman" pitchFamily="18" charset="0"/>
              <a:cs typeface="Times New Roman" pitchFamily="18" charset="0"/>
            </a:endParaRPr>
          </a:p>
        </p:txBody>
      </p:sp>
      <p:sp>
        <p:nvSpPr>
          <p:cNvPr id="22" name="TextBox 21"/>
          <p:cNvSpPr txBox="1"/>
          <p:nvPr/>
        </p:nvSpPr>
        <p:spPr>
          <a:xfrm>
            <a:off x="639207" y="4319577"/>
            <a:ext cx="4023360" cy="2757165"/>
          </a:xfrm>
          <a:prstGeom prst="rect">
            <a:avLst/>
          </a:prstGeom>
          <a:noFill/>
        </p:spPr>
        <p:txBody>
          <a:bodyPr wrap="square">
            <a:spAutoFit/>
          </a:bodyPr>
          <a:lstStyle/>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Windows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Python</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Google Colab</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Pandas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NumPy</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Matplotlib / Seaborn</a:t>
            </a:r>
          </a:p>
        </p:txBody>
      </p:sp>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sp>
        <p:nvSpPr>
          <p:cNvPr id="20" name="TextBox 19"/>
          <p:cNvSpPr txBox="1"/>
          <p:nvPr/>
        </p:nvSpPr>
        <p:spPr>
          <a:xfrm>
            <a:off x="42253" y="1115220"/>
            <a:ext cx="9770832" cy="1107996"/>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Module 1 – Data Collection</a:t>
            </a:r>
          </a:p>
          <a:p>
            <a:pPr algn="ctr"/>
            <a:r>
              <a:rPr lang="en-IN" sz="2100" dirty="0"/>
              <a:t>Fetch live articles from RSS feeds</a:t>
            </a:r>
          </a:p>
          <a:p>
            <a:pPr algn="ctr"/>
            <a:r>
              <a:rPr lang="en-IN" sz="2100" dirty="0"/>
              <a:t> (NYT, BBC, Guardian).</a:t>
            </a:r>
            <a:endParaRPr lang="en-US" sz="2100" dirty="0">
              <a:latin typeface="Times New Roman"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2553887" y="2609096"/>
            <a:ext cx="4674678" cy="1508105"/>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2 – Data Exploration</a:t>
            </a:r>
          </a:p>
          <a:p>
            <a:pPr lvl="0" algn="ctr"/>
            <a:r>
              <a:rPr lang="en-IN" sz="2200" dirty="0"/>
              <a:t>Check number of articles, columns, </a:t>
            </a:r>
          </a:p>
          <a:p>
            <a:pPr lvl="0" algn="ctr"/>
            <a:r>
              <a:rPr lang="en-IN" sz="2200" dirty="0"/>
              <a:t>and sample titles/summaries.</a:t>
            </a:r>
            <a:r>
              <a:rPr lang="en-IN" sz="2200" dirty="0">
                <a:latin typeface="Times New Roman" panose="02020603050405020304" pitchFamily="18" charset="0"/>
                <a:cs typeface="Times New Roman" panose="02020603050405020304" pitchFamily="18" charset="0"/>
              </a:rPr>
              <a:t>.</a:t>
            </a:r>
          </a:p>
          <a:p>
            <a:pPr algn="ctr"/>
            <a:endParaRPr lang="en-IN" sz="2400" dirty="0">
              <a:latin typeface="Times New Roman" panose="02020603050405020304" pitchFamily="18" charset="0"/>
              <a:cs typeface="Times New Roman" panose="02020603050405020304" pitchFamily="18" charset="0"/>
            </a:endParaRP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2971801" y="4228115"/>
            <a:ext cx="4100586" cy="1138773"/>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Module 3 – Data Cleaning</a:t>
            </a:r>
          </a:p>
          <a:p>
            <a:pPr algn="ctr"/>
            <a:r>
              <a:rPr lang="en-IN" sz="2200" dirty="0"/>
              <a:t>Strip HTML tags, entities, and “Continue reading…” text.</a:t>
            </a:r>
            <a:endParaRPr lang="en-IN" sz="2200" b="1" dirty="0">
              <a:latin typeface="Times New Roman" panose="02020603050405020304" pitchFamily="18" charset="0"/>
              <a:cs typeface="Times New Roman" panose="02020603050405020304" pitchFamily="18" charset="0"/>
            </a:endParaRPr>
          </a:p>
        </p:txBody>
      </p:sp>
      <p:sp>
        <p:nvSpPr>
          <p:cNvPr id="18" name="Arrow: Down 17">
            <a:extLst>
              <a:ext uri="{FF2B5EF4-FFF2-40B4-BE49-F238E27FC236}">
                <a16:creationId xmlns:a16="http://schemas.microsoft.com/office/drawing/2014/main" id="{E02D8121-E16D-A49A-1052-85D8AFE05F58}"/>
              </a:ext>
            </a:extLst>
          </p:cNvPr>
          <p:cNvSpPr/>
          <p:nvPr/>
        </p:nvSpPr>
        <p:spPr>
          <a:xfrm>
            <a:off x="4754386" y="5469412"/>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2460546" y="5841915"/>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4 – Data Preprocessing</a:t>
            </a:r>
          </a:p>
          <a:p>
            <a:pPr lvl="0" algn="ctr"/>
            <a:r>
              <a:rPr lang="en-IN" sz="2200" dirty="0"/>
              <a:t>Combine title + summary into </a:t>
            </a:r>
            <a:r>
              <a:rPr lang="en-IN" sz="2200" dirty="0" err="1"/>
              <a:t>raw_text</a:t>
            </a:r>
            <a:r>
              <a:rPr lang="en-IN" sz="2200" dirty="0"/>
              <a:t>; prepare for analysis</a:t>
            </a:r>
            <a:r>
              <a:rPr lang="en-IN" sz="2400" dirty="0"/>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IN" sz="2000" dirty="0">
                <a:solidFill>
                  <a:schemeClr val="bg1"/>
                </a:solidFill>
                <a:latin typeface="Times New Roman" pitchFamily="18" charset="0"/>
                <a:cs typeface="Times New Roman" pitchFamily="18" charset="0"/>
              </a:rPr>
              <a:t>METHODOLOGY</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16265" y="953427"/>
            <a:ext cx="6652974"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5 – Exploratory Data Analysis (EDA)</a:t>
            </a:r>
          </a:p>
          <a:p>
            <a:pPr lvl="0" algn="ctr"/>
            <a:r>
              <a:rPr lang="en-IN" sz="2400" dirty="0"/>
              <a:t>Compute sentiment scores and</a:t>
            </a:r>
          </a:p>
          <a:p>
            <a:pPr lvl="0" algn="ctr"/>
            <a:r>
              <a:rPr lang="en-IN" sz="2400" dirty="0"/>
              <a:t> labels; count words.</a:t>
            </a:r>
            <a:r>
              <a:rPr lang="en-IN" sz="2400" dirty="0">
                <a:latin typeface="Times New Roman" panose="02020603050405020304" pitchFamily="18" charset="0"/>
                <a:cs typeface="Times New Roman" panose="02020603050405020304" pitchFamily="18" charset="0"/>
              </a:rPr>
              <a:t>.</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242125"/>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138773"/>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6 – Trend Analysis</a:t>
            </a:r>
          </a:p>
          <a:p>
            <a:pPr lvl="0" algn="ctr"/>
            <a:r>
              <a:rPr lang="en-IN" sz="2200" dirty="0"/>
              <a:t>Compare sentiment across newspapers and articles</a:t>
            </a:r>
            <a:r>
              <a:rPr lang="en-IN" sz="2200" dirty="0">
                <a:latin typeface="Times New Roman" panose="02020603050405020304" pitchFamily="18" charset="0"/>
                <a:cs typeface="Times New Roman" panose="02020603050405020304" pitchFamily="18" charset="0"/>
              </a:rPr>
              <a:t>.</a:t>
            </a: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395958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28152" y="4271243"/>
            <a:ext cx="5029200" cy="1477328"/>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7 – Data Visualization</a:t>
            </a:r>
          </a:p>
          <a:p>
            <a:pPr lvl="0" algn="ctr"/>
            <a:r>
              <a:rPr lang="en-IN" sz="2100" dirty="0"/>
              <a:t>6-panel dashboard (volume, sentiment mix,  by paper, </a:t>
            </a:r>
            <a:r>
              <a:rPr lang="en-IN" sz="2100" dirty="0" err="1"/>
              <a:t>avg</a:t>
            </a:r>
            <a:r>
              <a:rPr lang="en-IN" sz="2100" dirty="0"/>
              <a:t> score, distribution  keywords)</a:t>
            </a:r>
            <a:r>
              <a:rPr lang="en-IN" sz="2100" dirty="0">
                <a:latin typeface="Times New Roman" panose="02020603050405020304" pitchFamily="18" charset="0"/>
                <a:cs typeface="Times New Roman" panose="02020603050405020304" pitchFamily="18" charset="0"/>
              </a:rPr>
              <a:t>.</a:t>
            </a:r>
          </a:p>
        </p:txBody>
      </p:sp>
      <p:sp>
        <p:nvSpPr>
          <p:cNvPr id="37" name="Arrow: Down 36">
            <a:extLst>
              <a:ext uri="{FF2B5EF4-FFF2-40B4-BE49-F238E27FC236}">
                <a16:creationId xmlns:a16="http://schemas.microsoft.com/office/drawing/2014/main" id="{D2A13C47-9211-7F6A-3235-E7CA857CC45D}"/>
              </a:ext>
            </a:extLst>
          </p:cNvPr>
          <p:cNvSpPr/>
          <p:nvPr/>
        </p:nvSpPr>
        <p:spPr>
          <a:xfrm>
            <a:off x="4901005" y="571276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675624" y="5946716"/>
            <a:ext cx="6392176" cy="1138773"/>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Module 8 – Advanced Visualization</a:t>
            </a:r>
          </a:p>
          <a:p>
            <a:pPr>
              <a:buNone/>
            </a:pPr>
            <a:r>
              <a:rPr lang="en-IN" sz="2100" dirty="0"/>
              <a:t>Combined dashboard with multiple  linked </a:t>
            </a:r>
          </a:p>
          <a:p>
            <a:pPr lvl="0" algn="ctr"/>
            <a:r>
              <a:rPr lang="en-IN" sz="2100" dirty="0"/>
              <a:t>charts in one figure.</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D54851F9-CA40-59F1-1DD0-4D601CA2E622}"/>
              </a:ext>
            </a:extLst>
          </p:cNvPr>
          <p:cNvPicPr>
            <a:picLocks noChangeAspect="1"/>
          </p:cNvPicPr>
          <p:nvPr/>
        </p:nvPicPr>
        <p:blipFill>
          <a:blip r:embed="rId5"/>
          <a:stretch>
            <a:fillRect/>
          </a:stretch>
        </p:blipFill>
        <p:spPr>
          <a:xfrm>
            <a:off x="304800" y="1115807"/>
            <a:ext cx="9064861" cy="6656593"/>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Key Insights &amp; Analysis</a:t>
            </a:r>
          </a:p>
          <a:p>
            <a:endParaRPr lang="en-US" sz="2400" dirty="0"/>
          </a:p>
        </p:txBody>
      </p:sp>
      <p:sp>
        <p:nvSpPr>
          <p:cNvPr id="10" name="TextBox 9"/>
          <p:cNvSpPr txBox="1"/>
          <p:nvPr/>
        </p:nvSpPr>
        <p:spPr>
          <a:xfrm>
            <a:off x="548640" y="1554480"/>
            <a:ext cx="8961120" cy="4324261"/>
          </a:xfrm>
          <a:prstGeom prst="rect">
            <a:avLst/>
          </a:prstGeom>
          <a:noFill/>
        </p:spPr>
        <p:txBody>
          <a:bodyPr wrap="square">
            <a:spAutoFit/>
          </a:bodyPr>
          <a:lstStyle/>
          <a:p>
            <a:pPr lvl="0"/>
            <a:r>
              <a:rPr lang="en-IN" sz="2500" b="1" dirty="0"/>
              <a:t>73% of the news articles are negative</a:t>
            </a:r>
            <a:r>
              <a:rPr lang="en-IN" sz="2500" dirty="0"/>
              <a:t>, showing an overall negative news sentiment. </a:t>
            </a:r>
          </a:p>
          <a:p>
            <a:pPr lvl="0"/>
            <a:r>
              <a:rPr lang="en-IN" sz="2500" b="1" dirty="0"/>
              <a:t>The New York Times is the most negative</a:t>
            </a:r>
            <a:r>
              <a:rPr lang="en-IN" sz="2500" dirty="0"/>
              <a:t>, with an average sentiment score of </a:t>
            </a:r>
            <a:r>
              <a:rPr lang="en-IN" sz="2500" b="1" dirty="0"/>
              <a:t>−0.572</a:t>
            </a:r>
            <a:r>
              <a:rPr lang="en-IN" sz="2500" dirty="0"/>
              <a:t>. </a:t>
            </a:r>
          </a:p>
          <a:p>
            <a:pPr lvl="0"/>
            <a:r>
              <a:rPr lang="en-IN" sz="2500" b="1" dirty="0"/>
              <a:t>The Guardian has the highest average sentiment</a:t>
            </a:r>
            <a:r>
              <a:rPr lang="en-IN" sz="2500" dirty="0"/>
              <a:t>, at </a:t>
            </a:r>
            <a:r>
              <a:rPr lang="en-IN" sz="2500" b="1" dirty="0"/>
              <a:t>−0.304</a:t>
            </a:r>
            <a:r>
              <a:rPr lang="en-IN" sz="2500" dirty="0"/>
              <a:t>, but its coverage is still mostly negative. </a:t>
            </a:r>
          </a:p>
          <a:p>
            <a:pPr lvl="0"/>
            <a:r>
              <a:rPr lang="en-IN" sz="2500" b="1" dirty="0"/>
              <a:t>BBC News shows mixed sentiment</a:t>
            </a:r>
            <a:r>
              <a:rPr lang="en-IN" sz="2500" dirty="0"/>
              <a:t>, with </a:t>
            </a:r>
            <a:r>
              <a:rPr lang="en-IN" sz="2500" b="1" dirty="0"/>
              <a:t>70% negative, 20% positive, and 10% neutral</a:t>
            </a:r>
            <a:r>
              <a:rPr lang="en-IN" sz="2500" dirty="0"/>
              <a:t> articles. </a:t>
            </a:r>
          </a:p>
          <a:p>
            <a:pPr lvl="0"/>
            <a:r>
              <a:rPr lang="en-IN" sz="2500" b="1" dirty="0"/>
              <a:t>Major topics include people, president, war, south, family, and politics</a:t>
            </a:r>
            <a:r>
              <a:rPr lang="en-IN" sz="2500" dirty="0"/>
              <a:t>, showing strong focus on social and political events.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t>                     </a:t>
              </a:r>
              <a:endParaRPr sz="2800" dirty="0">
                <a:solidFill>
                  <a:schemeClr val="bg1"/>
                </a:solidFill>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Implementation Workflow</a:t>
            </a:r>
          </a:p>
        </p:txBody>
      </p:sp>
      <p:sp>
        <p:nvSpPr>
          <p:cNvPr id="14" name="Chevron 13"/>
          <p:cNvSpPr/>
          <p:nvPr/>
        </p:nvSpPr>
        <p:spPr>
          <a:xfrm>
            <a:off x="36576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1</a:t>
            </a:r>
            <a:r>
              <a:rPr lang="en-IN" sz="1400" b="1" dirty="0">
                <a:solidFill>
                  <a:srgbClr val="FFFFFF"/>
                </a:solidFill>
                <a:latin typeface="Times New Roman"/>
              </a:rPr>
              <a:t>.</a:t>
            </a:r>
            <a:r>
              <a:rPr lang="en-IN" sz="1400" dirty="0"/>
              <a:t> Import Libraries and Settings </a:t>
            </a:r>
            <a:endParaRPr sz="1300" b="1" dirty="0">
              <a:solidFill>
                <a:srgbClr val="FFFFFF"/>
              </a:solidFill>
              <a:latin typeface="Times New Roman"/>
            </a:endParaRP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2. </a:t>
            </a:r>
            <a:r>
              <a:rPr lang="en-IN" sz="1400" dirty="0"/>
              <a:t>Data Collection and Cleaning</a:t>
            </a:r>
            <a:endParaRPr sz="1300" b="1" dirty="0">
              <a:solidFill>
                <a:srgbClr val="FFFFFF"/>
              </a:solidFill>
              <a:latin typeface="Times New Roman"/>
            </a:endParaRP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3. </a:t>
            </a:r>
            <a:r>
              <a:rPr lang="en-IN" sz="1400" dirty="0"/>
              <a:t>Text Preprocessing</a:t>
            </a:r>
            <a:endParaRPr sz="1300" b="1" dirty="0">
              <a:solidFill>
                <a:srgbClr val="FFFFFF"/>
              </a:solidFill>
              <a:latin typeface="Times New Roman"/>
            </a:endParaRP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4. </a:t>
            </a:r>
            <a:r>
              <a:rPr lang="en-IN" sz="1400" dirty="0"/>
              <a:t>Sentiment Analysis</a:t>
            </a:r>
            <a:endParaRPr sz="1300" b="1" dirty="0">
              <a:solidFill>
                <a:srgbClr val="FFFFFF"/>
              </a:solidFill>
              <a:latin typeface="Times New Roman"/>
            </a:endParaRP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5</a:t>
            </a:r>
            <a:r>
              <a:rPr lang="en-IN" sz="1300" b="1" dirty="0">
                <a:solidFill>
                  <a:srgbClr val="FFFFFF"/>
                </a:solidFill>
                <a:latin typeface="Times New Roman"/>
              </a:rPr>
              <a:t>.</a:t>
            </a:r>
            <a:r>
              <a:rPr lang="en-IN" sz="1400" dirty="0"/>
              <a:t>Keyword Extraction and Analysis</a:t>
            </a:r>
            <a:endParaRPr sz="1300" b="1" dirty="0">
              <a:solidFill>
                <a:srgbClr val="FFFFFF"/>
              </a:solidFill>
              <a:latin typeface="Times New Roman"/>
            </a:endParaRP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6. </a:t>
            </a:r>
            <a:r>
              <a:rPr lang="en-IN" sz="1400" dirty="0"/>
              <a:t>Visualization and Summary</a:t>
            </a:r>
            <a:endParaRPr sz="1300" b="1" dirty="0">
              <a:solidFill>
                <a:srgbClr val="FFFFFF"/>
              </a:solidFill>
              <a:latin typeface="Times New Roman"/>
            </a:endParaRP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5074920"/>
            <a:ext cx="9144000" cy="457200"/>
          </a:xfrm>
          <a:prstGeom prst="rect">
            <a:avLst/>
          </a:prstGeom>
          <a:noFill/>
        </p:spPr>
        <p:txBody>
          <a:bodyPr wrap="none">
            <a:spAutoFit/>
          </a:bodyPr>
          <a:lstStyle/>
          <a:p>
            <a:pPr algn="ctr"/>
            <a:r>
              <a:rPr sz="1300" i="1" dirty="0">
                <a:solidFill>
                  <a:srgbClr val="233464"/>
                </a:solidFill>
                <a:latin typeface="Times New Roman"/>
              </a:rPr>
              <a:t>Output: cleaned dataset → charts → a short set of actionable insights</a:t>
            </a:r>
          </a:p>
        </p:txBody>
      </p:sp>
    </p:spTree>
    <p:extLst>
      <p:ext uri="{BB962C8B-B14F-4D97-AF65-F5344CB8AC3E}">
        <p14:creationId xmlns:p14="http://schemas.microsoft.com/office/powerpoint/2010/main" val="4935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777240" y="1463040"/>
            <a:ext cx="8412480" cy="3939540"/>
          </a:xfrm>
          <a:prstGeom prst="rect">
            <a:avLst/>
          </a:prstGeom>
          <a:noFill/>
        </p:spPr>
        <p:txBody>
          <a:bodyPr wrap="square">
            <a:spAutoFit/>
          </a:bodyPr>
          <a:lstStyle/>
          <a:p>
            <a:pPr algn="l">
              <a:spcAft>
                <a:spcPts val="700"/>
              </a:spcAft>
              <a:defRPr sz="2000" b="0">
                <a:solidFill>
                  <a:srgbClr val="2D2D2D"/>
                </a:solidFill>
                <a:latin typeface="Aptos"/>
              </a:defRPr>
            </a:pPr>
            <a:r>
              <a:rPr lang="en-IN" sz="2500" dirty="0"/>
              <a:t>This project successfully demonstrates a real-time Social Media Data Analytics system by collecting and </a:t>
            </a:r>
            <a:r>
              <a:rPr lang="en-IN" sz="2500" dirty="0" err="1"/>
              <a:t>analyzing</a:t>
            </a:r>
            <a:r>
              <a:rPr lang="en-IN" sz="2500" dirty="0"/>
              <a:t> online content related to current events. The system performs data collection, preprocessing, sentiment analysis, keyword extraction, and visualization to identify important trends and patterns. The analysis provides insights into the overall sentiment, popular topics, and content distribution, demonstrating how real-time online data can be transformed into meaningful information using data analytics and NLP techniques.</a:t>
            </a:r>
            <a:endParaRPr sz="25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872251" y="6126486"/>
            <a:ext cx="8138160" cy="830997"/>
          </a:xfrm>
          <a:prstGeom prst="rect">
            <a:avLst/>
          </a:prstGeom>
          <a:noFill/>
        </p:spPr>
        <p:txBody>
          <a:bodyPr wrap="square">
            <a:spAutoFit/>
          </a:bodyPr>
          <a:lstStyle/>
          <a:p>
            <a:pPr algn="ctr">
              <a:spcAft>
                <a:spcPts val="700"/>
              </a:spcAft>
              <a:defRPr sz="1600" b="1">
                <a:solidFill>
                  <a:srgbClr val="C25B30"/>
                </a:solidFill>
                <a:latin typeface="Aptos"/>
              </a:defRPr>
            </a:pPr>
            <a:r>
              <a:rPr sz="2400" dirty="0">
                <a:latin typeface="Times New Roman" pitchFamily="18" charset="0"/>
                <a:cs typeface="Times New Roman" pitchFamily="18" charset="0"/>
              </a:rPr>
              <a:t>Future scope: apply these same steps to larger datasets, live data sources, and predictive modelling.</a:t>
            </a:r>
          </a:p>
        </p:txBody>
      </p:sp>
    </p:spTree>
    <p:extLst>
      <p:ext uri="{BB962C8B-B14F-4D97-AF65-F5344CB8AC3E}">
        <p14:creationId xmlns:p14="http://schemas.microsoft.com/office/powerpoint/2010/main" val="269419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3322</TotalTime>
  <Words>1131</Words>
  <Application>Microsoft Office PowerPoint</Application>
  <PresentationFormat>Custom</PresentationFormat>
  <Paragraphs>129</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Cambria Math</vt:lpstr>
      <vt:lpstr>Palatino Linotype</vt:lpstr>
      <vt:lpstr>Times New Roman</vt:lpstr>
      <vt:lpstr>Tw Cen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penchala chaitanya Siddilingam</cp:lastModifiedBy>
  <cp:revision>114</cp:revision>
  <cp:lastPrinted>2025-10-14T18:21:49Z</cp:lastPrinted>
  <dcterms:created xsi:type="dcterms:W3CDTF">2025-10-10T08:28:06Z</dcterms:created>
  <dcterms:modified xsi:type="dcterms:W3CDTF">2026-09-29T16:51:54Z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