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430" r:id="rId3"/>
    <p:sldId id="462" r:id="rId4"/>
    <p:sldId id="463" r:id="rId5"/>
    <p:sldId id="464" r:id="rId6"/>
    <p:sldId id="466" r:id="rId7"/>
    <p:sldId id="465" r:id="rId8"/>
    <p:sldId id="468" r:id="rId9"/>
    <p:sldId id="29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7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 autoAdjust="0"/>
    <p:restoredTop sz="94624" autoAdjust="0"/>
  </p:normalViewPr>
  <p:slideViewPr>
    <p:cSldViewPr showGuides="1">
      <p:cViewPr varScale="1">
        <p:scale>
          <a:sx n="84" d="100"/>
          <a:sy n="84" d="100"/>
        </p:scale>
        <p:origin x="629" y="48"/>
      </p:cViewPr>
      <p:guideLst>
        <p:guide orient="horz" pos="2160"/>
        <p:guide pos="3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12-08-2026</a:t>
            </a:fld>
            <a:endParaRPr lang="en-US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12-08-2026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DBMS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Professor, CSE Dept.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t>12-08-2026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endParaRPr kumimoji="0" lang="en-IN" sz="4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695288" y="2686273"/>
            <a:ext cx="10358510" cy="27318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2060"/>
                </a:solidFill>
                <a:latin typeface="Tw Cen MT" panose="020B0602020104020603" pitchFamily="34" charset="0"/>
              </a:rPr>
              <a:t>Data Analysis Essentials – Capstone Project Review 1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2060"/>
                </a:solidFill>
                <a:latin typeface="Tw Cen MT" panose="020B0602020104020603" pitchFamily="34" charset="0"/>
              </a:rPr>
              <a:t>Team No:14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sz="2400" b="1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lvl="0" algn="ctr" defTabSz="914400">
              <a:lnSpc>
                <a:spcPct val="90000"/>
              </a:lnSpc>
              <a:spcBef>
                <a:spcPts val="600"/>
              </a:spcBef>
              <a:defRPr/>
            </a:pPr>
            <a:r>
              <a:rPr lang="en-IN" sz="2000" dirty="0"/>
              <a:t>Siddilingam Penchala Chaitanya - 25B11CS902</a:t>
            </a:r>
          </a:p>
          <a:p>
            <a:pPr lvl="0" algn="ctr" defTabSz="914400">
              <a:lnSpc>
                <a:spcPct val="90000"/>
              </a:lnSpc>
              <a:spcBef>
                <a:spcPts val="600"/>
              </a:spcBef>
              <a:defRPr/>
            </a:pPr>
            <a:r>
              <a:rPr lang="en-IN" sz="2000" dirty="0" err="1"/>
              <a:t>Konappagari</a:t>
            </a:r>
            <a:r>
              <a:rPr lang="en-IN" sz="2000" dirty="0"/>
              <a:t> Pandu - 25B11CS457 </a:t>
            </a:r>
          </a:p>
          <a:p>
            <a:pPr lvl="0" algn="ctr" defTabSz="914400">
              <a:lnSpc>
                <a:spcPct val="90000"/>
              </a:lnSpc>
              <a:spcBef>
                <a:spcPts val="600"/>
              </a:spcBef>
              <a:defRPr/>
            </a:pPr>
            <a:r>
              <a:rPr lang="en-IN" sz="2000" dirty="0"/>
              <a:t>S Radha Sai Lakshmi - 25B11CS854 </a:t>
            </a:r>
          </a:p>
          <a:p>
            <a:pPr lvl="0" algn="ctr" defTabSz="914400">
              <a:lnSpc>
                <a:spcPct val="90000"/>
              </a:lnSpc>
              <a:spcBef>
                <a:spcPts val="600"/>
              </a:spcBef>
              <a:defRPr/>
            </a:pPr>
            <a:r>
              <a:rPr lang="en-IN" sz="2000" dirty="0"/>
              <a:t>M Divya - 25B11CS520 </a:t>
            </a:r>
            <a:endParaRPr lang="en-US" sz="2000" b="1" dirty="0">
              <a:solidFill>
                <a:srgbClr val="002060"/>
              </a:solidFill>
              <a:latin typeface="Tw Cen MT" panose="020B06020201040206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sz="2400" b="1" dirty="0">
              <a:solidFill>
                <a:srgbClr val="002060"/>
              </a:solidFill>
              <a:latin typeface="Tw Cen MT" panose="020B06020201040206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63138-5701-BCA0-21E2-7D8E81C1C3AF}"/>
              </a:ext>
            </a:extLst>
          </p:cNvPr>
          <p:cNvSpPr txBox="1"/>
          <p:nvPr/>
        </p:nvSpPr>
        <p:spPr>
          <a:xfrm>
            <a:off x="2207568" y="1916832"/>
            <a:ext cx="106966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Social Media Data Analysis System</a:t>
            </a: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CFB52-92B6-DD45-96FA-141DAF39D4D2}"/>
              </a:ext>
            </a:extLst>
          </p:cNvPr>
          <p:cNvSpPr txBox="1"/>
          <p:nvPr/>
        </p:nvSpPr>
        <p:spPr>
          <a:xfrm>
            <a:off x="4958017" y="6373368"/>
            <a:ext cx="1748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Aditya University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Social Media Data Analysis System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3000" dirty="0">
                <a:latin typeface="Arial Narrow" panose="020B0606020202030204" pitchFamily="34" charset="0"/>
              </a:rPr>
              <a:t>Social media generates huge volumes of unstructured, messy text data.</a:t>
            </a:r>
          </a:p>
          <a:p>
            <a:pPr lvl="0"/>
            <a:r>
              <a:rPr lang="en-IN" sz="3000" dirty="0">
                <a:latin typeface="Arial Narrow" panose="020B0606020202030204" pitchFamily="34" charset="0"/>
              </a:rPr>
              <a:t>Raw text contains noise (punctuation, URLs, </a:t>
            </a:r>
            <a:r>
              <a:rPr lang="en-IN" sz="3000" dirty="0" err="1">
                <a:latin typeface="Arial Narrow" panose="020B0606020202030204" pitchFamily="34" charset="0"/>
              </a:rPr>
              <a:t>stopwords</a:t>
            </a:r>
            <a:r>
              <a:rPr lang="en-IN" sz="3000" dirty="0">
                <a:latin typeface="Arial Narrow" panose="020B0606020202030204" pitchFamily="34" charset="0"/>
              </a:rPr>
              <a:t>) that hides its real meaning.</a:t>
            </a:r>
          </a:p>
          <a:p>
            <a:pPr lvl="0"/>
            <a:r>
              <a:rPr lang="en-IN" sz="3000" dirty="0">
                <a:latin typeface="Arial Narrow" panose="020B0606020202030204" pitchFamily="34" charset="0"/>
              </a:rPr>
              <a:t>No quick way exists to identify trending topics or public sentiment from this data.</a:t>
            </a:r>
          </a:p>
          <a:p>
            <a:pPr lvl="0"/>
            <a:r>
              <a:rPr lang="en-IN" sz="3000" dirty="0">
                <a:latin typeface="Arial Narrow" panose="020B0606020202030204" pitchFamily="34" charset="0"/>
              </a:rPr>
              <a:t>This project uses Python to clean, </a:t>
            </a:r>
            <a:r>
              <a:rPr lang="en-IN" sz="3000" dirty="0" err="1">
                <a:latin typeface="Arial Narrow" panose="020B0606020202030204" pitchFamily="34" charset="0"/>
              </a:rPr>
              <a:t>analyze</a:t>
            </a:r>
            <a:r>
              <a:rPr lang="en-IN" sz="3000" dirty="0">
                <a:latin typeface="Arial Narrow" panose="020B0606020202030204" pitchFamily="34" charset="0"/>
              </a:rPr>
              <a:t>, and visualize text to reveal top keywords and sentiment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400" y="332656"/>
            <a:ext cx="105615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2567608" y="6278770"/>
            <a:ext cx="6912768" cy="365125"/>
          </a:xfrm>
        </p:spPr>
        <p:txBody>
          <a:bodyPr/>
          <a:lstStyle/>
          <a:p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Social Media Data Analysis System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3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3200" dirty="0">
                <a:latin typeface="Arial Narrow" panose="020B0606020202030204" pitchFamily="34" charset="0"/>
              </a:rPr>
              <a:t>Collect social media text data (tweets/posts/headlines).</a:t>
            </a:r>
          </a:p>
          <a:p>
            <a:pPr lvl="0"/>
            <a:r>
              <a:rPr lang="en-IN" sz="3200" dirty="0">
                <a:latin typeface="Arial Narrow" panose="020B0606020202030204" pitchFamily="34" charset="0"/>
              </a:rPr>
              <a:t>Clean the text by removing punctuation, URLs, and </a:t>
            </a:r>
            <a:r>
              <a:rPr lang="en-IN" sz="3200" dirty="0" err="1">
                <a:latin typeface="Arial Narrow" panose="020B0606020202030204" pitchFamily="34" charset="0"/>
              </a:rPr>
              <a:t>stopwords</a:t>
            </a:r>
            <a:r>
              <a:rPr lang="en-IN" sz="3200" dirty="0">
                <a:latin typeface="Arial Narrow" panose="020B0606020202030204" pitchFamily="34" charset="0"/>
              </a:rPr>
              <a:t>.</a:t>
            </a:r>
          </a:p>
          <a:p>
            <a:pPr lvl="0"/>
            <a:r>
              <a:rPr lang="en-IN" sz="3200" dirty="0" err="1">
                <a:latin typeface="Arial Narrow" panose="020B0606020202030204" pitchFamily="34" charset="0"/>
              </a:rPr>
              <a:t>Analyze</a:t>
            </a:r>
            <a:r>
              <a:rPr lang="en-IN" sz="3200" dirty="0">
                <a:latin typeface="Arial Narrow" panose="020B0606020202030204" pitchFamily="34" charset="0"/>
              </a:rPr>
              <a:t> word frequency and classify sentiment (positive/negative/neutral).</a:t>
            </a:r>
          </a:p>
          <a:p>
            <a:pPr lvl="0"/>
            <a:r>
              <a:rPr lang="en-IN" sz="3200" dirty="0">
                <a:latin typeface="Arial Narrow" panose="020B0606020202030204" pitchFamily="34" charset="0"/>
              </a:rPr>
              <a:t>Visualize results through charts to find top trends and overall sentiment.</a:t>
            </a:r>
            <a:endParaRPr lang="en-IN" sz="3200" dirty="0">
              <a:effectLst/>
              <a:latin typeface="Arial Narrow" panose="020B0606020202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9588" y="642918"/>
            <a:ext cx="105615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Objectives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Social Media Data Analysis System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3600" b="1" dirty="0"/>
              <a:t>Twitter Dataset (Kaggle)</a:t>
            </a:r>
            <a:r>
              <a:rPr lang="en-IN" sz="3600" dirty="0"/>
              <a:t> — CSV of tweets, often pre-</a:t>
            </a:r>
            <a:r>
              <a:rPr lang="en-IN" sz="3600" dirty="0" err="1"/>
              <a:t>labeled</a:t>
            </a:r>
            <a:r>
              <a:rPr lang="en-IN" sz="3600" dirty="0"/>
              <a:t> with sentiment.</a:t>
            </a:r>
          </a:p>
          <a:p>
            <a:pPr lvl="0"/>
            <a:r>
              <a:rPr lang="en-IN" sz="3600" b="1" dirty="0"/>
              <a:t>NLTK Twitter Samples</a:t>
            </a:r>
            <a:r>
              <a:rPr lang="en-IN" sz="3600" dirty="0"/>
              <a:t> — Built-in sample tweets, no download needed.</a:t>
            </a:r>
          </a:p>
          <a:p>
            <a:pPr lvl="0"/>
            <a:r>
              <a:rPr lang="en-IN" sz="3600" b="1" dirty="0"/>
              <a:t>Reddit Post Titles</a:t>
            </a:r>
            <a:r>
              <a:rPr lang="en-IN" sz="3600" dirty="0"/>
              <a:t> — Collected via Kaggle datasets.</a:t>
            </a:r>
          </a:p>
          <a:p>
            <a:pPr lvl="0"/>
            <a:r>
              <a:rPr lang="en-IN" sz="3600" b="1" dirty="0"/>
              <a:t>News Headlines</a:t>
            </a:r>
            <a:r>
              <a:rPr lang="en-IN" sz="3600" dirty="0"/>
              <a:t> — Scraped from sites like Times of India using web scraping.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588" y="64291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Social Media Data Analysis System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5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3600" dirty="0"/>
          </a:p>
          <a:p>
            <a:pPr lvl="0"/>
            <a:r>
              <a:rPr lang="en-IN" sz="3600" b="1" dirty="0"/>
              <a:t>Python</a:t>
            </a:r>
            <a:r>
              <a:rPr lang="en-IN" sz="3600" dirty="0"/>
              <a:t> — main language for writing the project code.</a:t>
            </a:r>
          </a:p>
          <a:p>
            <a:pPr lvl="0"/>
            <a:r>
              <a:rPr lang="en-IN" sz="3600" b="1" dirty="0"/>
              <a:t>Pandas</a:t>
            </a:r>
            <a:r>
              <a:rPr lang="en-IN" sz="3600" dirty="0"/>
              <a:t> — loads and organizes the data into tables.</a:t>
            </a:r>
          </a:p>
          <a:p>
            <a:pPr lvl="0"/>
            <a:r>
              <a:rPr lang="en-IN" sz="3600" b="1" dirty="0"/>
              <a:t>NLTK / Regex</a:t>
            </a:r>
            <a:r>
              <a:rPr lang="en-IN" sz="3600" dirty="0"/>
              <a:t> — cleans the text (removes </a:t>
            </a:r>
            <a:r>
              <a:rPr lang="en-IN" sz="3600" dirty="0" err="1"/>
              <a:t>stopwords</a:t>
            </a:r>
            <a:r>
              <a:rPr lang="en-IN" sz="3600" dirty="0"/>
              <a:t>, punctuation, etc.).</a:t>
            </a:r>
          </a:p>
          <a:p>
            <a:pPr lvl="0"/>
            <a:r>
              <a:rPr lang="en-IN" sz="3600" b="1" dirty="0"/>
              <a:t>Matplotlib / Seaborn</a:t>
            </a:r>
            <a:r>
              <a:rPr lang="en-IN" sz="3600" dirty="0"/>
              <a:t> — makes charts (bar, pie, line) to show results.</a:t>
            </a:r>
          </a:p>
          <a:p>
            <a:pPr lvl="0"/>
            <a:r>
              <a:rPr lang="en-IN" sz="3600" b="1" dirty="0" err="1"/>
              <a:t>BeautifulSoup</a:t>
            </a:r>
            <a:r>
              <a:rPr lang="en-IN" sz="3600" b="1" dirty="0"/>
              <a:t> / Requests</a:t>
            </a:r>
            <a:r>
              <a:rPr lang="en-IN" sz="3600" dirty="0"/>
              <a:t> — scrapes news headlines from websites (if needed).</a:t>
            </a:r>
          </a:p>
          <a:p>
            <a:pPr lvl="0"/>
            <a:r>
              <a:rPr lang="en-IN" sz="3600" b="1" dirty="0" err="1"/>
              <a:t>collections.Counter</a:t>
            </a:r>
            <a:r>
              <a:rPr lang="en-IN" sz="3600" dirty="0"/>
              <a:t> — counts word/keyword frequency.</a:t>
            </a:r>
          </a:p>
          <a:p>
            <a:pPr lvl="0"/>
            <a:r>
              <a:rPr lang="en-IN" sz="3600" b="1" dirty="0"/>
              <a:t>Google </a:t>
            </a:r>
            <a:r>
              <a:rPr lang="en-IN" sz="3600" b="1" dirty="0" err="1"/>
              <a:t>Colab</a:t>
            </a:r>
            <a:r>
              <a:rPr lang="en-IN" sz="3600" dirty="0"/>
              <a:t> — free platform to write, run, and submit the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588" y="64291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Social Media Data Analysis System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6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47978" y="1988840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3600" dirty="0"/>
              <a:t>Cleaned social media text ready for analysis.</a:t>
            </a:r>
          </a:p>
          <a:p>
            <a:pPr lvl="0"/>
            <a:r>
              <a:rPr lang="en-IN" sz="3600" dirty="0"/>
              <a:t>Top keywords/words showing the most discussed topics.</a:t>
            </a:r>
          </a:p>
          <a:p>
            <a:pPr lvl="0"/>
            <a:r>
              <a:rPr lang="en-IN" sz="3600" dirty="0"/>
              <a:t>Sentiment results (% positive, negative, neutral).</a:t>
            </a:r>
          </a:p>
          <a:p>
            <a:pPr lvl="0"/>
            <a:r>
              <a:rPr lang="en-IN" sz="3600" dirty="0"/>
              <a:t>Visual charts summarizing findings and answering the main project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588" y="686306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algn="ctr"/>
            <a:endParaRPr lang="en-IN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Social Media Data Analysis System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3600" dirty="0"/>
              <a:t>Use machine learning models for more accurate sentiment analysis.</a:t>
            </a:r>
          </a:p>
          <a:p>
            <a:pPr lvl="0"/>
            <a:r>
              <a:rPr lang="en-IN" sz="3600" dirty="0"/>
              <a:t>Collect real-time data using live Twitter/Reddit APIs.</a:t>
            </a:r>
          </a:p>
          <a:p>
            <a:pPr lvl="0"/>
            <a:r>
              <a:rPr lang="en-IN" sz="3600" dirty="0"/>
              <a:t>Support multiple languages for analysis.</a:t>
            </a:r>
          </a:p>
          <a:p>
            <a:pPr lvl="0"/>
            <a:r>
              <a:rPr lang="en-IN" sz="3600" dirty="0"/>
              <a:t>Build an interactive dashboard for real-time visualization.</a:t>
            </a:r>
            <a:endParaRPr lang="en-IN" sz="3600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9588" y="642918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00B050"/>
                </a:solidFill>
              </a:rPr>
              <a:t>Future enhancements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Social Media Data Analysis System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1"/>
          <p:cNvSpPr txBox="1"/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3200" dirty="0"/>
              <a:t>Turns messy social media text into clear, useful insights.</a:t>
            </a:r>
          </a:p>
          <a:p>
            <a:pPr lvl="0"/>
            <a:r>
              <a:rPr lang="en-IN" sz="3200" dirty="0"/>
              <a:t>Python-based pipeline cleans data, finds top keywords, and detects sentiment.</a:t>
            </a:r>
          </a:p>
          <a:p>
            <a:pPr lvl="0"/>
            <a:r>
              <a:rPr lang="en-IN" sz="3200" dirty="0"/>
              <a:t>Visual charts make trends and public opinion easy to understand.</a:t>
            </a:r>
          </a:p>
          <a:p>
            <a:pPr lvl="0"/>
            <a:r>
              <a:rPr lang="en-IN" sz="3200" dirty="0"/>
              <a:t>A simple, scalable foundation for real-time and multi </a:t>
            </a:r>
            <a:r>
              <a:rPr lang="en-IN" sz="3200" dirty="0" err="1"/>
              <a:t>socal</a:t>
            </a:r>
            <a:r>
              <a:rPr lang="en-IN" sz="3200" dirty="0"/>
              <a:t> media platform analysis.</a:t>
            </a:r>
            <a:endParaRPr lang="en-IN" sz="3200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9588" y="642918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1F4E79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/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anose="020E0502030308020204" pitchFamily="34" charset="0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Social Media Data Analysis System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</TotalTime>
  <Words>480</Words>
  <Application>Microsoft Office PowerPoint</Application>
  <PresentationFormat>Widescreen</PresentationFormat>
  <Paragraphs>74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Narrow</vt:lpstr>
      <vt:lpstr>Calibri</vt:lpstr>
      <vt:lpstr>Calibri Light</vt:lpstr>
      <vt:lpstr>Maiandra GD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penchala chaitanya Siddilingam</cp:lastModifiedBy>
  <cp:revision>734</cp:revision>
  <cp:lastPrinted>2023-06-09T04:58:00Z</cp:lastPrinted>
  <dcterms:created xsi:type="dcterms:W3CDTF">2019-12-14T03:50:00Z</dcterms:created>
  <dcterms:modified xsi:type="dcterms:W3CDTF">2026-08-12T10:03:51Z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C323A45F88CA49A9ABA8E43EBA54F955_12</vt:lpwstr>
  </property>
  <property fmtid="{D5CDD505-2E9C-101B-9397-08002B2CF9AE}" pid="3" name="KSOProductBuildVer">
    <vt:lpwstr>1033-12.1.0.28032</vt:lpwstr>
  </property>
</Properties>
</file>